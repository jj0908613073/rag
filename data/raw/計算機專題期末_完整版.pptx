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10287000" cx="18288000"/>
  <p:notesSz cx="6858000" cy="9144000"/>
  <p:embeddedFontLst>
    <p:embeddedFont>
      <p:font typeface="Nunito"/>
      <p:regular r:id="rId46"/>
      <p:bold r:id="rId47"/>
      <p:italic r:id="rId48"/>
      <p:boldItalic r:id="rId49"/>
    </p:embeddedFont>
    <p:embeddedFont>
      <p:font typeface="Nunito Medium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4" roundtripDataSignature="AMtx7mjqHTfeO8CmZy1PB0F5mhOAn48G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Nuni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Nunito-italic.fntdata"/><Relationship Id="rId47" Type="http://schemas.openxmlformats.org/officeDocument/2006/relationships/font" Target="fonts/Nunito-bold.fntdata"/><Relationship Id="rId49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NunitoMedium-bold.fntdata"/><Relationship Id="rId50" Type="http://schemas.openxmlformats.org/officeDocument/2006/relationships/font" Target="fonts/NunitoMedium-regular.fntdata"/><Relationship Id="rId53" Type="http://schemas.openxmlformats.org/officeDocument/2006/relationships/font" Target="fonts/NunitoMedium-boldItalic.fntdata"/><Relationship Id="rId52" Type="http://schemas.openxmlformats.org/officeDocument/2006/relationships/font" Target="fonts/Nunito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01e244fdf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201e244fdfd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01e244fdf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201e244fdfd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902b81c26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2902b81c265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902b81c26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5" name="Google Shape;195;g2902b81c265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902b81c26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2902b81c265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01e244fdfd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201e244fdfd_5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4d91005a01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24d91005a01_1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4ae68b3be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24ae68b3bef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5e4724fcbd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25e4724fcbd_1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01e244fdf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201e244fdfd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902b81c2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2902b81c26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4d4ac2e6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284d4ac2e6e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42374442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g2423744427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01e244fdfd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201e244fdfd_0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48f520c00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248f520c00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f9f5fa2e0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1f9f5fa2e05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4ae68b3be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24ae68b3bef_0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4ae68b3be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g24ae68b3bef_0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4ae68b3be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g24ae68b3bef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4ae68b3be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g24ae68b3bef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4d91005a0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g24d91005a01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87e80174a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g287e80174ab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87e80174a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8" name="Google Shape;418;g287e80174ab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5e4724fcbd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g25e4724fcbd_1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87e80174a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1" name="Google Shape;441;g287e80174ab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01e244fdfd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g201e244fdfd_0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03bd80a9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g203bd80a97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4ae68b3bef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g24ae68b3bef_0_4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4ae68b3bef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4" name="Google Shape;504;g24ae68b3bef_0_2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5e4724fcb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8" name="Google Shape;528;g25e4724fcb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4ae68b3be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6" name="Google Shape;536;g24ae68b3bef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4ae68b3be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7" name="Google Shape;547;g24ae68b3bef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4ae68b3be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5" name="Google Shape;565;g24ae68b3bef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4ae68b3be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7" name="Google Shape;577;g24ae68b3bef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87e80174ab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0" name="Google Shape;590;g287e80174ab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4ae68b3be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3" name="Google Shape;603;g24ae68b3bef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47.png"/><Relationship Id="rId6" Type="http://schemas.openxmlformats.org/officeDocument/2006/relationships/image" Target="../media/image38.png"/><Relationship Id="rId7" Type="http://schemas.openxmlformats.org/officeDocument/2006/relationships/image" Target="../media/image33.png"/><Relationship Id="rId8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44.png"/><Relationship Id="rId8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hyperlink" Target="http://www.youtube.com/watch?v=YciKldqAjLY" TargetMode="External"/><Relationship Id="rId5" Type="http://schemas.openxmlformats.org/officeDocument/2006/relationships/image" Target="../media/image34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leemeng.tw/attack_on_bert_transfer_learning_in_nlp.html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5.png"/><Relationship Id="rId4" Type="http://schemas.openxmlformats.org/officeDocument/2006/relationships/image" Target="../media/image48.png"/><Relationship Id="rId5" Type="http://schemas.openxmlformats.org/officeDocument/2006/relationships/image" Target="../media/image4.png"/><Relationship Id="rId6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9171668" y="4221110"/>
            <a:ext cx="2418037" cy="242887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970540" y="-646770"/>
            <a:ext cx="3054284" cy="3067974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0" y="3050925"/>
            <a:ext cx="19054200" cy="27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7"/>
              <a:buFont typeface="Arial"/>
              <a:buNone/>
            </a:pPr>
            <a:r>
              <a:rPr i="0" lang="en-US" sz="8537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基於BERT情緒分析應用於</a:t>
            </a:r>
            <a:endParaRPr i="0" sz="8537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5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7"/>
              <a:buFont typeface="Arial"/>
              <a:buNone/>
            </a:pPr>
            <a:r>
              <a:rPr i="0" lang="en-US" sz="8537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交友</a:t>
            </a:r>
            <a:r>
              <a:rPr lang="en-US" sz="8537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配對推薦系統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8181150" y="7459788"/>
            <a:ext cx="8001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41125" y="7262173"/>
            <a:ext cx="2430553" cy="6106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-797232" y="8767760"/>
            <a:ext cx="2418037" cy="242887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850" y="157435"/>
            <a:ext cx="2430553" cy="6106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0" y="6387575"/>
            <a:ext cx="174819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i="0" lang="en-US" sz="3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指導教授 :葉瑞峰 教授 </a:t>
            </a:r>
            <a:endParaRPr i="0" sz="3800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5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i="0" lang="en-US" sz="37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組員 : 1092915 李虔華</a:t>
            </a:r>
            <a:endParaRPr i="0" sz="3700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5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i="0" lang="en-US" sz="37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1092917 林品秀</a:t>
            </a:r>
            <a:endParaRPr i="0" sz="3700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25785" y="7248423"/>
            <a:ext cx="3067974" cy="306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2839404">
            <a:off x="15696324" y="-759462"/>
            <a:ext cx="3620607" cy="362060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3838800" cy="10287000"/>
          </a:xfrm>
          <a:custGeom>
            <a:rect b="b" l="l" r="r" t="t"/>
            <a:pathLst>
              <a:path extrusionOk="0" h="3479800" w="1298557">
                <a:moveTo>
                  <a:pt x="0" y="0"/>
                </a:moveTo>
                <a:lnTo>
                  <a:pt x="1298557" y="0"/>
                </a:lnTo>
                <a:lnTo>
                  <a:pt x="1298557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100F0D"/>
          </a:solidFill>
          <a:ln>
            <a:noFill/>
          </a:ln>
        </p:spPr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839404">
            <a:off x="109099" y="4740238"/>
            <a:ext cx="3620607" cy="3620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683" y="3262679"/>
            <a:ext cx="522487" cy="522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49709" y="1028700"/>
            <a:ext cx="1509591" cy="118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6">
            <a:alphaModFix/>
          </a:blip>
          <a:srcRect b="0" l="35894" r="0" t="27412"/>
          <a:stretch/>
        </p:blipFill>
        <p:spPr>
          <a:xfrm>
            <a:off x="17074709" y="7563393"/>
            <a:ext cx="2310578" cy="124274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5743775" y="3362441"/>
            <a:ext cx="51420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09600" lvl="0" marL="45720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100F0D"/>
              </a:buClr>
              <a:buSzPts val="6000"/>
              <a:buFont typeface="Times New Roman"/>
              <a:buAutoNum type="arabicPeriod"/>
            </a:pPr>
            <a:r>
              <a:rPr lang="en-US" sz="60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緒論</a:t>
            </a:r>
            <a:endParaRPr i="0" sz="6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5409000" y="5006063"/>
            <a:ext cx="64653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相關研究</a:t>
            </a:r>
            <a:endParaRPr i="0" sz="6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5409000" y="6882488"/>
            <a:ext cx="69783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系統方法</a:t>
            </a:r>
            <a:endParaRPr i="0" sz="6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2260750" y="3262663"/>
            <a:ext cx="66363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實驗</a:t>
            </a:r>
            <a:endParaRPr i="0" sz="6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2260750" y="5006063"/>
            <a:ext cx="5912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使用者介面</a:t>
            </a:r>
            <a:endParaRPr i="0" sz="6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2260750" y="6882501"/>
            <a:ext cx="5912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</a:t>
            </a:r>
            <a:r>
              <a:rPr i="0" lang="en-US" sz="60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結論</a:t>
            </a:r>
            <a:endParaRPr i="0" sz="6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4477450" y="287263"/>
            <a:ext cx="1171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i="0" lang="en-US" sz="90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目錄: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7074700" y="9548975"/>
            <a:ext cx="933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01e244fdfd_0_26"/>
          <p:cNvSpPr/>
          <p:nvPr/>
        </p:nvSpPr>
        <p:spPr>
          <a:xfrm>
            <a:off x="538" y="2100"/>
            <a:ext cx="18286929" cy="10282809"/>
          </a:xfrm>
          <a:custGeom>
            <a:rect b="b" l="l" r="r" t="t"/>
            <a:pathLst>
              <a:path extrusionOk="0" h="3479800" w="1298557">
                <a:moveTo>
                  <a:pt x="0" y="0"/>
                </a:moveTo>
                <a:lnTo>
                  <a:pt x="1298557" y="0"/>
                </a:lnTo>
                <a:lnTo>
                  <a:pt x="1298557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100F0D"/>
          </a:solidFill>
          <a:ln>
            <a:noFill/>
          </a:ln>
        </p:spPr>
      </p:sp>
      <p:pic>
        <p:nvPicPr>
          <p:cNvPr id="117" name="Google Shape;117;g201e244fdfd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839411">
            <a:off x="-1443083" y="6288657"/>
            <a:ext cx="4191490" cy="419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201e244fdfd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683" y="3262679"/>
            <a:ext cx="522487" cy="522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01e244fdfd_0_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49709" y="1028700"/>
            <a:ext cx="1509591" cy="118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201e244fdfd_0_26"/>
          <p:cNvPicPr preferRelativeResize="0"/>
          <p:nvPr/>
        </p:nvPicPr>
        <p:blipFill rotWithShape="1">
          <a:blip r:embed="rId6">
            <a:alphaModFix/>
          </a:blip>
          <a:srcRect b="0" l="35892" r="0" t="27408"/>
          <a:stretch/>
        </p:blipFill>
        <p:spPr>
          <a:xfrm>
            <a:off x="15512859" y="7026530"/>
            <a:ext cx="2310578" cy="124274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201e244fdfd_0_26"/>
          <p:cNvSpPr txBox="1"/>
          <p:nvPr/>
        </p:nvSpPr>
        <p:spPr>
          <a:xfrm>
            <a:off x="3288012" y="4358550"/>
            <a:ext cx="11712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0"/>
              <a:buFont typeface="Arial"/>
              <a:buNone/>
            </a:pPr>
            <a:r>
              <a:rPr b="1" lang="en-US" sz="10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緒論</a:t>
            </a:r>
            <a:endParaRPr b="1" i="0" sz="10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g201e244fdfd_0_26"/>
          <p:cNvSpPr txBox="1"/>
          <p:nvPr/>
        </p:nvSpPr>
        <p:spPr>
          <a:xfrm>
            <a:off x="19292750" y="9528125"/>
            <a:ext cx="7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Nunito Medium"/>
                <a:ea typeface="Nunito Medium"/>
                <a:cs typeface="Nunito Medium"/>
                <a:sym typeface="Nunito Medium"/>
              </a:rPr>
              <a:t>2.</a:t>
            </a:r>
            <a:endParaRPr b="0" i="0" sz="3600" u="none" cap="none" strike="noStrike">
              <a:solidFill>
                <a:schemeClr val="lt1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23" name="Google Shape;123;g201e244fdfd_0_26"/>
          <p:cNvSpPr txBox="1"/>
          <p:nvPr/>
        </p:nvSpPr>
        <p:spPr>
          <a:xfrm>
            <a:off x="17074700" y="9625175"/>
            <a:ext cx="933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/>
          <p:nvPr/>
        </p:nvSpPr>
        <p:spPr>
          <a:xfrm>
            <a:off x="2504026" y="7090800"/>
            <a:ext cx="15416100" cy="15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認為藉由對於同一件事的看法、價值觀是否相近具有更高的匹配參考性</a:t>
            </a:r>
            <a:endParaRPr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418325" y="502400"/>
            <a:ext cx="11712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lang="en-US" sz="8500">
                <a:solidFill>
                  <a:srgbClr val="100F0D"/>
                </a:solidFill>
              </a:rPr>
              <a:t>緒論-研究動機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564474" y="502399"/>
            <a:ext cx="2355650" cy="20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/>
          <p:nvPr/>
        </p:nvSpPr>
        <p:spPr>
          <a:xfrm>
            <a:off x="993702" y="2752975"/>
            <a:ext cx="1185312" cy="1143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993702" y="4921875"/>
            <a:ext cx="1185312" cy="1143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993690" y="6923525"/>
            <a:ext cx="1185312" cy="1143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1272862" y="2939725"/>
            <a:ext cx="627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1272850" y="7090788"/>
            <a:ext cx="627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1272875" y="5113888"/>
            <a:ext cx="627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2630250" y="4852275"/>
            <a:ext cx="13027500" cy="15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想要改善線上普遍交友軟體對於個人顏質、社會條件較好的依賴</a:t>
            </a:r>
            <a:endParaRPr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2504025" y="2955025"/>
            <a:ext cx="15201300" cy="15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快速找尋志同道合的朋友，打破時間和空間的限制使得交友更加容易</a:t>
            </a:r>
            <a:endParaRPr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7074700" y="9625175"/>
            <a:ext cx="933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01e244fdfd_0_82"/>
          <p:cNvSpPr/>
          <p:nvPr/>
        </p:nvSpPr>
        <p:spPr>
          <a:xfrm>
            <a:off x="0" y="2100"/>
            <a:ext cx="18286929" cy="10282809"/>
          </a:xfrm>
          <a:custGeom>
            <a:rect b="b" l="l" r="r" t="t"/>
            <a:pathLst>
              <a:path extrusionOk="0" h="3479800" w="1298557">
                <a:moveTo>
                  <a:pt x="0" y="0"/>
                </a:moveTo>
                <a:lnTo>
                  <a:pt x="1298557" y="0"/>
                </a:lnTo>
                <a:lnTo>
                  <a:pt x="1298557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100F0D"/>
          </a:solidFill>
          <a:ln>
            <a:noFill/>
          </a:ln>
        </p:spPr>
      </p:sp>
      <p:pic>
        <p:nvPicPr>
          <p:cNvPr id="145" name="Google Shape;145;g201e244fdfd_0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839411">
            <a:off x="-1443083" y="6288657"/>
            <a:ext cx="4191490" cy="419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201e244fdfd_0_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683" y="3262679"/>
            <a:ext cx="522487" cy="522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201e244fdfd_0_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49709" y="1028700"/>
            <a:ext cx="1509591" cy="118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201e244fdfd_0_82"/>
          <p:cNvPicPr preferRelativeResize="0"/>
          <p:nvPr/>
        </p:nvPicPr>
        <p:blipFill rotWithShape="1">
          <a:blip r:embed="rId6">
            <a:alphaModFix/>
          </a:blip>
          <a:srcRect b="0" l="35892" r="0" t="27408"/>
          <a:stretch/>
        </p:blipFill>
        <p:spPr>
          <a:xfrm>
            <a:off x="15512859" y="7026530"/>
            <a:ext cx="2310578" cy="124274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201e244fdfd_0_82"/>
          <p:cNvSpPr txBox="1"/>
          <p:nvPr/>
        </p:nvSpPr>
        <p:spPr>
          <a:xfrm>
            <a:off x="1414350" y="4450800"/>
            <a:ext cx="15459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文獻探討</a:t>
            </a:r>
            <a:endParaRPr b="1" i="0" sz="10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g201e244fdfd_0_82"/>
          <p:cNvSpPr txBox="1"/>
          <p:nvPr/>
        </p:nvSpPr>
        <p:spPr>
          <a:xfrm>
            <a:off x="17554500" y="9625175"/>
            <a:ext cx="7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00F0D"/>
                </a:solidFill>
                <a:latin typeface="Nunito Medium"/>
                <a:ea typeface="Nunito Medium"/>
                <a:cs typeface="Nunito Medium"/>
                <a:sym typeface="Nunito Medium"/>
              </a:rPr>
              <a:t>1.</a:t>
            </a:r>
            <a:endParaRPr b="0" i="0" sz="3600" u="none" cap="none" strike="noStrik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51" name="Google Shape;151;g201e244fdfd_0_82"/>
          <p:cNvSpPr txBox="1"/>
          <p:nvPr/>
        </p:nvSpPr>
        <p:spPr>
          <a:xfrm>
            <a:off x="17074700" y="9625175"/>
            <a:ext cx="933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/>
        </p:nvSpPr>
        <p:spPr>
          <a:xfrm>
            <a:off x="1028700" y="1152525"/>
            <a:ext cx="12911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i="0" lang="en-US" sz="90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文獻/既有系統服務探討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028700" y="3501875"/>
            <a:ext cx="1485591" cy="14605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12120238" y="3028091"/>
            <a:ext cx="51420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BERT-CNN模型</a:t>
            </a:r>
            <a:endParaRPr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37000" y="6555391"/>
            <a:ext cx="3026428" cy="267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/>
          <p:nvPr/>
        </p:nvSpPr>
        <p:spPr>
          <a:xfrm>
            <a:off x="16083213" y="-354547"/>
            <a:ext cx="2655099" cy="2667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15106527" y="981625"/>
            <a:ext cx="2306896" cy="1196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7735191">
            <a:off x="1252282" y="3817897"/>
            <a:ext cx="820079" cy="82451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/>
          <p:nvPr/>
        </p:nvSpPr>
        <p:spPr>
          <a:xfrm>
            <a:off x="1028700" y="5558126"/>
            <a:ext cx="1485591" cy="14605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2120238" y="4880238"/>
            <a:ext cx="33567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情緒分析</a:t>
            </a:r>
            <a:endParaRPr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7735224">
            <a:off x="1291922" y="5843456"/>
            <a:ext cx="881129" cy="88589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 txBox="1"/>
          <p:nvPr/>
        </p:nvSpPr>
        <p:spPr>
          <a:xfrm>
            <a:off x="17074700" y="9625175"/>
            <a:ext cx="933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072190" y="7614377"/>
            <a:ext cx="1485591" cy="14605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7735224">
            <a:off x="1291922" y="7942201"/>
            <a:ext cx="881129" cy="88589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 txBox="1"/>
          <p:nvPr/>
        </p:nvSpPr>
        <p:spPr>
          <a:xfrm>
            <a:off x="12122863" y="6806926"/>
            <a:ext cx="77445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k-means演算法</a:t>
            </a:r>
            <a:endParaRPr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10158325" y="2698750"/>
            <a:ext cx="1485591" cy="14605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2838575" y="5875600"/>
            <a:ext cx="75672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 Theory of Emotion</a:t>
            </a:r>
            <a:endParaRPr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7745865">
            <a:off x="10461595" y="3013123"/>
            <a:ext cx="822144" cy="82780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/>
          <p:nvPr/>
        </p:nvSpPr>
        <p:spPr>
          <a:xfrm>
            <a:off x="10158325" y="4557674"/>
            <a:ext cx="1485591" cy="14605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2749925" y="8032964"/>
            <a:ext cx="77445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 questions to fall in love</a:t>
            </a:r>
            <a:endParaRPr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7745898">
            <a:off x="10354784" y="4900082"/>
            <a:ext cx="883347" cy="88943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/>
          <p:nvPr/>
        </p:nvSpPr>
        <p:spPr>
          <a:xfrm>
            <a:off x="10164887" y="6416597"/>
            <a:ext cx="1485591" cy="14605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2749913" y="3866854"/>
            <a:ext cx="51420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相似吸引效應</a:t>
            </a:r>
            <a:endParaRPr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8" name="Google Shape;1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7745865">
            <a:off x="10464212" y="6719345"/>
            <a:ext cx="822144" cy="82780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5"/>
          <p:cNvSpPr txBox="1"/>
          <p:nvPr/>
        </p:nvSpPr>
        <p:spPr>
          <a:xfrm>
            <a:off x="12118925" y="8639789"/>
            <a:ext cx="77445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Digital twin</a:t>
            </a:r>
            <a:endParaRPr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0164887" y="8275522"/>
            <a:ext cx="1485591" cy="14605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7745865">
            <a:off x="10424350" y="8589895"/>
            <a:ext cx="822144" cy="827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902b81c265_0_34"/>
          <p:cNvSpPr txBox="1"/>
          <p:nvPr/>
        </p:nvSpPr>
        <p:spPr>
          <a:xfrm>
            <a:off x="884150" y="914425"/>
            <a:ext cx="17949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</a:pPr>
            <a:r>
              <a:rPr lang="en-US" sz="75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相似吸引效應</a:t>
            </a:r>
            <a:endParaRPr i="0" sz="7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g2902b81c265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9867" y="8232277"/>
            <a:ext cx="4790407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2902b81c265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839404">
            <a:off x="17517624" y="-793187"/>
            <a:ext cx="3620607" cy="3620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2902b81c265_0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-565351" y="8646561"/>
            <a:ext cx="2355650" cy="20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2902b81c265_0_34"/>
          <p:cNvSpPr txBox="1"/>
          <p:nvPr/>
        </p:nvSpPr>
        <p:spPr>
          <a:xfrm>
            <a:off x="1031650" y="3150325"/>
            <a:ext cx="16751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t/>
            </a:r>
            <a:endParaRPr b="0" i="0" sz="4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2902b81c265_0_34"/>
          <p:cNvSpPr txBox="1"/>
          <p:nvPr/>
        </p:nvSpPr>
        <p:spPr>
          <a:xfrm>
            <a:off x="1031650" y="2765575"/>
            <a:ext cx="156207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33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Char char="●"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McPherson等人研究社交網絡中的同質性(Homophily)現象，這一現象指的是人們更傾向於和具有相似特質的人建立緊密聯繫。</a:t>
            </a:r>
            <a:endParaRPr sz="4800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0F0D"/>
              </a:buClr>
              <a:buSzPts val="4800"/>
              <a:buFont typeface="Times New Roman"/>
              <a:buChar char="●"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其中指出，同質性不僅在線下社交中普遍存在，也在線上社交平台中得到了證實。</a:t>
            </a:r>
            <a:endParaRPr sz="4800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g2902b81c265_0_34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7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902b81c265_0_44"/>
          <p:cNvSpPr txBox="1"/>
          <p:nvPr/>
        </p:nvSpPr>
        <p:spPr>
          <a:xfrm>
            <a:off x="884150" y="712400"/>
            <a:ext cx="17949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</a:pPr>
            <a:r>
              <a:rPr lang="en-US" sz="75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 Theory of Emotion</a:t>
            </a:r>
            <a:endParaRPr i="0" sz="7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g2902b81c265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89992" y="8236877"/>
            <a:ext cx="4790407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2902b81c265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839404">
            <a:off x="17517624" y="-793187"/>
            <a:ext cx="3620607" cy="3620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2902b81c265_0_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-1324001" y="8707611"/>
            <a:ext cx="2355650" cy="20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2902b81c265_0_44"/>
          <p:cNvSpPr txBox="1"/>
          <p:nvPr/>
        </p:nvSpPr>
        <p:spPr>
          <a:xfrm>
            <a:off x="1031650" y="3150325"/>
            <a:ext cx="16751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t/>
            </a:r>
            <a:endParaRPr b="0" i="0" sz="4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2902b81c265_0_44"/>
          <p:cNvSpPr txBox="1"/>
          <p:nvPr/>
        </p:nvSpPr>
        <p:spPr>
          <a:xfrm>
            <a:off x="1224400" y="5584225"/>
            <a:ext cx="16365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33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Char char="●"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Albert Ellisk於1955年提出，理論表示事件A，在透過思考歷程影響個人想法B，最後導致情緒反應C。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g2902b81c265_0_44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8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2902b81c265_0_44"/>
          <p:cNvSpPr/>
          <p:nvPr/>
        </p:nvSpPr>
        <p:spPr>
          <a:xfrm>
            <a:off x="1529800" y="2103425"/>
            <a:ext cx="14733900" cy="3274200"/>
          </a:xfrm>
          <a:prstGeom prst="rect">
            <a:avLst/>
          </a:prstGeom>
          <a:solidFill>
            <a:srgbClr val="F9DC0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2902b81c265_0_44"/>
          <p:cNvSpPr txBox="1"/>
          <p:nvPr/>
        </p:nvSpPr>
        <p:spPr>
          <a:xfrm>
            <a:off x="1680250" y="2170475"/>
            <a:ext cx="14433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A-Activating event-觸發事件或經驗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B-Belief-想法或看法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C-emotional and behavioral Consequence-情緒反應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g2902b81c265_0_44"/>
          <p:cNvSpPr txBox="1"/>
          <p:nvPr/>
        </p:nvSpPr>
        <p:spPr>
          <a:xfrm>
            <a:off x="884150" y="7616125"/>
            <a:ext cx="4956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(activating event)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g2902b81c265_0_44"/>
          <p:cNvSpPr txBox="1"/>
          <p:nvPr/>
        </p:nvSpPr>
        <p:spPr>
          <a:xfrm>
            <a:off x="6493763" y="7616125"/>
            <a:ext cx="4956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belief</a:t>
            </a: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g2902b81c265_0_44"/>
          <p:cNvSpPr txBox="1"/>
          <p:nvPr/>
        </p:nvSpPr>
        <p:spPr>
          <a:xfrm>
            <a:off x="12041875" y="7616125"/>
            <a:ext cx="4956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consequence</a:t>
            </a: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9" name="Google Shape;209;g2902b81c265_0_44"/>
          <p:cNvCxnSpPr/>
          <p:nvPr/>
        </p:nvCxnSpPr>
        <p:spPr>
          <a:xfrm>
            <a:off x="5923625" y="8664750"/>
            <a:ext cx="1506000" cy="0"/>
          </a:xfrm>
          <a:prstGeom prst="straightConnector1">
            <a:avLst/>
          </a:prstGeom>
          <a:noFill/>
          <a:ln cap="flat" cmpd="sng" w="38100">
            <a:solidFill>
              <a:srgbClr val="100F0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g2902b81c265_0_44"/>
          <p:cNvCxnSpPr/>
          <p:nvPr/>
        </p:nvCxnSpPr>
        <p:spPr>
          <a:xfrm flipH="1" rot="10800000">
            <a:off x="10698250" y="8670225"/>
            <a:ext cx="1666200" cy="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902b81c265_0_56"/>
          <p:cNvSpPr txBox="1"/>
          <p:nvPr/>
        </p:nvSpPr>
        <p:spPr>
          <a:xfrm>
            <a:off x="884150" y="914425"/>
            <a:ext cx="17949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</a:pPr>
            <a:r>
              <a:rPr lang="en-US" sz="75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 questoins to fall in love</a:t>
            </a:r>
            <a:endParaRPr i="0" sz="7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6" name="Google Shape;216;g2902b81c265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9867" y="8232277"/>
            <a:ext cx="4790407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2902b81c265_0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839404">
            <a:off x="17517624" y="-793187"/>
            <a:ext cx="3620607" cy="3620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2902b81c265_0_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-565351" y="8646561"/>
            <a:ext cx="2355650" cy="20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2902b81c265_0_56"/>
          <p:cNvSpPr txBox="1"/>
          <p:nvPr/>
        </p:nvSpPr>
        <p:spPr>
          <a:xfrm>
            <a:off x="1031650" y="3150325"/>
            <a:ext cx="16751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t/>
            </a:r>
            <a:endParaRPr b="0" i="0" sz="4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2902b81c265_0_56"/>
          <p:cNvSpPr txBox="1"/>
          <p:nvPr/>
        </p:nvSpPr>
        <p:spPr>
          <a:xfrm>
            <a:off x="1031650" y="2765575"/>
            <a:ext cx="156207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33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800"/>
              <a:buFont typeface="Calibri"/>
              <a:buChar char="●"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 questoins to fall in love</a:t>
            </a: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是由心理學家Arthur Aron、Elaine Aron在1990年代提出的一組問題。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Char char="●"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研究兩個陌生人是否可以透過問對方一系列問題來建立親密的聯繫。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g2902b81c265_0_56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9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01e244fdfd_5_10"/>
          <p:cNvSpPr txBox="1"/>
          <p:nvPr/>
        </p:nvSpPr>
        <p:spPr>
          <a:xfrm>
            <a:off x="884150" y="914425"/>
            <a:ext cx="117120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Arial"/>
              <a:buNone/>
            </a:pPr>
            <a:r>
              <a:rPr i="0" lang="en-US" sz="85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BERT</a:t>
            </a:r>
            <a:r>
              <a:rPr lang="en-US" sz="85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-CNN</a:t>
            </a:r>
            <a:r>
              <a:rPr i="0" lang="en-US" sz="85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模型</a:t>
            </a:r>
            <a:endParaRPr i="0" sz="8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7" name="Google Shape;227;g201e244fdfd_5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954225" y="304684"/>
            <a:ext cx="2056357" cy="181333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201e244fdfd_5_10"/>
          <p:cNvSpPr txBox="1"/>
          <p:nvPr/>
        </p:nvSpPr>
        <p:spPr>
          <a:xfrm>
            <a:off x="1163300" y="2118025"/>
            <a:ext cx="627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201e244fdfd_5_10"/>
          <p:cNvSpPr txBox="1"/>
          <p:nvPr/>
        </p:nvSpPr>
        <p:spPr>
          <a:xfrm>
            <a:off x="884150" y="2887525"/>
            <a:ext cx="160584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207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0F0D"/>
              </a:buClr>
              <a:buSzPts val="4600"/>
              <a:buFont typeface="Times New Roman"/>
              <a:buChar char="●"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WU, Pei-Shan提出情緒標籤分類使用BERT做詞嵌入後取得各個字詞的向量，作為模型輸入，接者進行遷移學習，最後由一維卷積神經網路模型完成分類。</a:t>
            </a:r>
            <a:endParaRPr i="0" sz="3800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g201e244fdfd_5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11050" y="5096725"/>
            <a:ext cx="5476950" cy="547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201e244fdfd_5_10"/>
          <p:cNvSpPr txBox="1"/>
          <p:nvPr/>
        </p:nvSpPr>
        <p:spPr>
          <a:xfrm>
            <a:off x="16737850" y="9625175"/>
            <a:ext cx="1269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10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4d91005a01_1_34"/>
          <p:cNvSpPr txBox="1"/>
          <p:nvPr/>
        </p:nvSpPr>
        <p:spPr>
          <a:xfrm>
            <a:off x="884150" y="914425"/>
            <a:ext cx="17949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</a:pPr>
            <a:r>
              <a:rPr i="0" lang="en-US" sz="75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維度型情感分析(Sentiment Analysis)</a:t>
            </a:r>
            <a:endParaRPr i="0" sz="7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g24d91005a01_1_34"/>
          <p:cNvSpPr txBox="1"/>
          <p:nvPr/>
        </p:nvSpPr>
        <p:spPr>
          <a:xfrm>
            <a:off x="2382850" y="2370475"/>
            <a:ext cx="14048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g24d91005a01_1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9867" y="8232277"/>
            <a:ext cx="4790407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24d91005a01_1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839404">
            <a:off x="17517624" y="-793187"/>
            <a:ext cx="3620607" cy="3620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24d91005a01_1_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-565351" y="8646561"/>
            <a:ext cx="2355650" cy="20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24d91005a01_1_34"/>
          <p:cNvSpPr txBox="1"/>
          <p:nvPr/>
        </p:nvSpPr>
        <p:spPr>
          <a:xfrm>
            <a:off x="1031650" y="3150325"/>
            <a:ext cx="16751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t/>
            </a:r>
            <a:endParaRPr b="0" i="0" sz="4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24d91005a01_1_34"/>
          <p:cNvSpPr txBox="1"/>
          <p:nvPr/>
        </p:nvSpPr>
        <p:spPr>
          <a:xfrm>
            <a:off x="1236700" y="2689775"/>
            <a:ext cx="9024000" cy="75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Char char="●"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Russell &amp; Pratt(1980)</a:t>
            </a:r>
            <a:r>
              <a:rPr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提出Valence-Arousal(VA)二維空間模型來表示情感相關性，Valence 代表正面或負面的程度</a:t>
            </a: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，</a:t>
            </a:r>
            <a:r>
              <a:rPr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Arousal 代表激動及冷靜的程度</a:t>
            </a: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，</a:t>
            </a: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如右圖所示。</a:t>
            </a:r>
            <a:endParaRPr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24d91005a01_1_34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4000">
                <a:solidFill>
                  <a:srgbClr val="100F0D"/>
                </a:solidFill>
              </a:rPr>
              <a:t>1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g24d91005a01_1_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60700" y="2908668"/>
            <a:ext cx="7747100" cy="665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4ae68b3bef_0_95"/>
          <p:cNvSpPr txBox="1"/>
          <p:nvPr/>
        </p:nvSpPr>
        <p:spPr>
          <a:xfrm>
            <a:off x="884150" y="914425"/>
            <a:ext cx="17949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</a:pPr>
            <a:r>
              <a:rPr lang="en-US" sz="75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K-means 演算法</a:t>
            </a:r>
            <a:endParaRPr i="0" sz="7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0" name="Google Shape;250;g24ae68b3bef_0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9867" y="7626127"/>
            <a:ext cx="4790407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24ae68b3bef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839404">
            <a:off x="17517624" y="-793187"/>
            <a:ext cx="3620607" cy="3620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24ae68b3bef_0_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-565351" y="8646561"/>
            <a:ext cx="2355650" cy="20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24ae68b3bef_0_95"/>
          <p:cNvSpPr txBox="1"/>
          <p:nvPr/>
        </p:nvSpPr>
        <p:spPr>
          <a:xfrm>
            <a:off x="1031650" y="3150325"/>
            <a:ext cx="16751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t/>
            </a:r>
            <a:endParaRPr b="0" i="0" sz="4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24ae68b3bef_0_95"/>
          <p:cNvSpPr txBox="1"/>
          <p:nvPr/>
        </p:nvSpPr>
        <p:spPr>
          <a:xfrm>
            <a:off x="1083000" y="2465250"/>
            <a:ext cx="83940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33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Char char="●"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分別針對每個使用者，利用</a:t>
            </a: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k-means clustering algorithm將具有相近價值觀的使用者聚類在一起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g24ae68b3bef_0_95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4000">
                <a:solidFill>
                  <a:srgbClr val="100F0D"/>
                </a:solidFill>
              </a:rPr>
              <a:t>2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g24ae68b3bef_0_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01625" y="914429"/>
            <a:ext cx="5498912" cy="8847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e4724fcbd_1_44"/>
          <p:cNvSpPr txBox="1"/>
          <p:nvPr/>
        </p:nvSpPr>
        <p:spPr>
          <a:xfrm>
            <a:off x="884150" y="914425"/>
            <a:ext cx="17949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Arial"/>
              <a:buNone/>
            </a:pPr>
            <a:r>
              <a:rPr lang="en-US" sz="75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twin</a:t>
            </a:r>
            <a:endParaRPr i="0" sz="7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2" name="Google Shape;262;g25e4724fcbd_1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0092" y="7567564"/>
            <a:ext cx="4790407" cy="12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25e4724fcbd_1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839404">
            <a:off x="17517624" y="-793187"/>
            <a:ext cx="3620607" cy="3620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25e4724fcbd_1_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-565351" y="8646561"/>
            <a:ext cx="2355650" cy="20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25e4724fcbd_1_44"/>
          <p:cNvSpPr txBox="1"/>
          <p:nvPr/>
        </p:nvSpPr>
        <p:spPr>
          <a:xfrm>
            <a:off x="1031650" y="3150325"/>
            <a:ext cx="16751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t/>
            </a:r>
            <a:endParaRPr b="0" i="0" sz="4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25e4724fcbd_1_44"/>
          <p:cNvSpPr txBox="1"/>
          <p:nvPr/>
        </p:nvSpPr>
        <p:spPr>
          <a:xfrm>
            <a:off x="1083000" y="2465250"/>
            <a:ext cx="158289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33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4800"/>
              <a:buFont typeface="Times New Roman"/>
              <a:buChar char="●"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Digital twin，或稱為數位映射、數位分身、數位雙生，其所指的即是在 數位世界當中，創造一個現實世界的數位模擬，而這一模擬能夠通過感應器與網路，將真實世界發生的狀況，映射至數位環境中。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g25e4724fcbd_1_4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g25e4724fcbd_1_44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4000">
                <a:solidFill>
                  <a:srgbClr val="100F0D"/>
                </a:solidFill>
              </a:rPr>
              <a:t>3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01e244fdfd_0_63"/>
          <p:cNvSpPr/>
          <p:nvPr/>
        </p:nvSpPr>
        <p:spPr>
          <a:xfrm>
            <a:off x="-75750" y="2100"/>
            <a:ext cx="18439509" cy="10282809"/>
          </a:xfrm>
          <a:custGeom>
            <a:rect b="b" l="l" r="r" t="t"/>
            <a:pathLst>
              <a:path extrusionOk="0" h="3479800" w="1298557">
                <a:moveTo>
                  <a:pt x="0" y="0"/>
                </a:moveTo>
                <a:lnTo>
                  <a:pt x="1298557" y="0"/>
                </a:lnTo>
                <a:lnTo>
                  <a:pt x="1298557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100F0D"/>
          </a:solidFill>
          <a:ln>
            <a:noFill/>
          </a:ln>
        </p:spPr>
      </p:sp>
      <p:pic>
        <p:nvPicPr>
          <p:cNvPr id="274" name="Google Shape;274;g201e244fdfd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839411">
            <a:off x="-1443083" y="6288657"/>
            <a:ext cx="4191490" cy="419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201e244fdfd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683" y="3262679"/>
            <a:ext cx="522487" cy="522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201e244fdfd_0_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49709" y="1028700"/>
            <a:ext cx="1509591" cy="118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201e244fdfd_0_63"/>
          <p:cNvPicPr preferRelativeResize="0"/>
          <p:nvPr/>
        </p:nvPicPr>
        <p:blipFill rotWithShape="1">
          <a:blip r:embed="rId6">
            <a:alphaModFix/>
          </a:blip>
          <a:srcRect b="0" l="35892" r="0" t="27408"/>
          <a:stretch/>
        </p:blipFill>
        <p:spPr>
          <a:xfrm>
            <a:off x="15512859" y="7026530"/>
            <a:ext cx="2310578" cy="124274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201e244fdfd_0_63"/>
          <p:cNvSpPr txBox="1"/>
          <p:nvPr/>
        </p:nvSpPr>
        <p:spPr>
          <a:xfrm>
            <a:off x="1082175" y="4650926"/>
            <a:ext cx="16767600" cy="1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研究方法</a:t>
            </a:r>
            <a:endParaRPr b="1" i="0" sz="7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g201e244fdfd_0_63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4000">
                <a:solidFill>
                  <a:schemeClr val="lt1"/>
                </a:solidFill>
              </a:rPr>
              <a:t>4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902b81c265_0_0"/>
          <p:cNvSpPr/>
          <p:nvPr/>
        </p:nvSpPr>
        <p:spPr>
          <a:xfrm>
            <a:off x="17575100" y="-455925"/>
            <a:ext cx="1995230" cy="1995230"/>
          </a:xfrm>
          <a:custGeom>
            <a:rect b="b" l="l" r="r" t="t"/>
            <a:pathLst>
              <a:path extrusionOk="0" h="1913890" w="1913890">
                <a:moveTo>
                  <a:pt x="0" y="0"/>
                </a:moveTo>
                <a:lnTo>
                  <a:pt x="1913890" y="0"/>
                </a:lnTo>
                <a:lnTo>
                  <a:pt x="1913890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F9DC09"/>
          </a:solidFill>
          <a:ln>
            <a:noFill/>
          </a:ln>
        </p:spPr>
      </p:sp>
      <p:sp>
        <p:nvSpPr>
          <p:cNvPr id="285" name="Google Shape;285;g2902b81c265_0_0"/>
          <p:cNvSpPr/>
          <p:nvPr/>
        </p:nvSpPr>
        <p:spPr>
          <a:xfrm>
            <a:off x="-225782" y="-889565"/>
            <a:ext cx="2418037" cy="242887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g2902b81c26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40818" y="236091"/>
            <a:ext cx="4430154" cy="111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2902b81c26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25785" y="9123148"/>
            <a:ext cx="3067974" cy="30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2902b81c265_0_0"/>
          <p:cNvSpPr txBox="1"/>
          <p:nvPr/>
        </p:nvSpPr>
        <p:spPr>
          <a:xfrm>
            <a:off x="418325" y="502400"/>
            <a:ext cx="11712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i="0" lang="en-US" sz="85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開發流程圖</a:t>
            </a:r>
            <a:endParaRPr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g2902b81c265_0_0"/>
          <p:cNvSpPr/>
          <p:nvPr/>
        </p:nvSpPr>
        <p:spPr>
          <a:xfrm>
            <a:off x="16857993" y="8268160"/>
            <a:ext cx="2418037" cy="242887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2902b81c265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g2902b81c265_0_0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4000">
                <a:solidFill>
                  <a:srgbClr val="100F0D"/>
                </a:solidFill>
              </a:rPr>
              <a:t>5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g2902b81c265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7038" y="1810700"/>
            <a:ext cx="12703787" cy="8086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84d4ac2e6e_0_3"/>
          <p:cNvSpPr txBox="1"/>
          <p:nvPr/>
        </p:nvSpPr>
        <p:spPr>
          <a:xfrm>
            <a:off x="304800" y="286250"/>
            <a:ext cx="12911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i="0" lang="en-US" sz="90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BERT-CNN模型結構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g284d4ac2e6e_0_3"/>
          <p:cNvSpPr/>
          <p:nvPr/>
        </p:nvSpPr>
        <p:spPr>
          <a:xfrm>
            <a:off x="16083213" y="-354547"/>
            <a:ext cx="2655099" cy="2667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g284d4ac2e6e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5106527" y="981625"/>
            <a:ext cx="2306896" cy="119670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284d4ac2e6e_0_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g284d4ac2e6e_0_3"/>
          <p:cNvSpPr txBox="1"/>
          <p:nvPr/>
        </p:nvSpPr>
        <p:spPr>
          <a:xfrm>
            <a:off x="16726900" y="9625175"/>
            <a:ext cx="12807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16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g284d4ac2e6e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5625" y="1892656"/>
            <a:ext cx="8200900" cy="829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4237444277_0_0"/>
          <p:cNvSpPr/>
          <p:nvPr/>
        </p:nvSpPr>
        <p:spPr>
          <a:xfrm>
            <a:off x="17575100" y="-455925"/>
            <a:ext cx="1995230" cy="1995230"/>
          </a:xfrm>
          <a:custGeom>
            <a:rect b="b" l="l" r="r" t="t"/>
            <a:pathLst>
              <a:path extrusionOk="0" h="1913890" w="1913890">
                <a:moveTo>
                  <a:pt x="0" y="0"/>
                </a:moveTo>
                <a:lnTo>
                  <a:pt x="1913890" y="0"/>
                </a:lnTo>
                <a:lnTo>
                  <a:pt x="1913890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F9DC09"/>
          </a:solidFill>
          <a:ln>
            <a:noFill/>
          </a:ln>
        </p:spPr>
      </p:sp>
      <p:sp>
        <p:nvSpPr>
          <p:cNvPr id="308" name="Google Shape;308;g24237444277_0_0"/>
          <p:cNvSpPr/>
          <p:nvPr/>
        </p:nvSpPr>
        <p:spPr>
          <a:xfrm>
            <a:off x="-225782" y="-889565"/>
            <a:ext cx="2418037" cy="242887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g2423744427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40818" y="236091"/>
            <a:ext cx="4430154" cy="111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24237444277_0_0"/>
          <p:cNvSpPr txBox="1"/>
          <p:nvPr/>
        </p:nvSpPr>
        <p:spPr>
          <a:xfrm>
            <a:off x="418325" y="502400"/>
            <a:ext cx="11712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i="0" lang="en-US" sz="85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匹配流程圖</a:t>
            </a:r>
            <a:endParaRPr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1" name="Google Shape;311;g2423744427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5115" y="8752123"/>
            <a:ext cx="3067974" cy="306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24237444277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-1657675" y="8081349"/>
            <a:ext cx="3067975" cy="270543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24237444277_0_0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4000">
                <a:solidFill>
                  <a:srgbClr val="100F0D"/>
                </a:solidFill>
              </a:rPr>
              <a:t>7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g24237444277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963100"/>
            <a:ext cx="17983201" cy="509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01e244fdfd_0_181"/>
          <p:cNvSpPr/>
          <p:nvPr/>
        </p:nvSpPr>
        <p:spPr>
          <a:xfrm>
            <a:off x="17575100" y="-455925"/>
            <a:ext cx="1995230" cy="1995230"/>
          </a:xfrm>
          <a:custGeom>
            <a:rect b="b" l="l" r="r" t="t"/>
            <a:pathLst>
              <a:path extrusionOk="0" h="1913890" w="1913890">
                <a:moveTo>
                  <a:pt x="0" y="0"/>
                </a:moveTo>
                <a:lnTo>
                  <a:pt x="1913890" y="0"/>
                </a:lnTo>
                <a:lnTo>
                  <a:pt x="1913890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F9DC09"/>
          </a:solidFill>
          <a:ln>
            <a:noFill/>
          </a:ln>
        </p:spPr>
      </p:sp>
      <p:sp>
        <p:nvSpPr>
          <p:cNvPr id="320" name="Google Shape;320;g201e244fdfd_0_181"/>
          <p:cNvSpPr/>
          <p:nvPr/>
        </p:nvSpPr>
        <p:spPr>
          <a:xfrm>
            <a:off x="-225782" y="-889565"/>
            <a:ext cx="2418037" cy="242887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g201e244fdfd_0_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40818" y="236091"/>
            <a:ext cx="4430154" cy="111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201e244fdfd_0_1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182010" y="7841473"/>
            <a:ext cx="3067974" cy="30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201e244fdfd_0_181"/>
          <p:cNvSpPr txBox="1"/>
          <p:nvPr/>
        </p:nvSpPr>
        <p:spPr>
          <a:xfrm>
            <a:off x="418325" y="502400"/>
            <a:ext cx="11712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網頁架構圖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201e244fdfd_0_181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4000">
                <a:solidFill>
                  <a:srgbClr val="100F0D"/>
                </a:solidFill>
              </a:rPr>
              <a:t>8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g201e244fdfd_0_1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364" y="1963100"/>
            <a:ext cx="16413891" cy="750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48f520c002_0_20"/>
          <p:cNvSpPr/>
          <p:nvPr/>
        </p:nvSpPr>
        <p:spPr>
          <a:xfrm>
            <a:off x="0" y="2100"/>
            <a:ext cx="18286929" cy="10282809"/>
          </a:xfrm>
          <a:custGeom>
            <a:rect b="b" l="l" r="r" t="t"/>
            <a:pathLst>
              <a:path extrusionOk="0" h="3479800" w="1298557">
                <a:moveTo>
                  <a:pt x="0" y="0"/>
                </a:moveTo>
                <a:lnTo>
                  <a:pt x="1298557" y="0"/>
                </a:lnTo>
                <a:lnTo>
                  <a:pt x="1298557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100F0D"/>
          </a:solidFill>
          <a:ln>
            <a:noFill/>
          </a:ln>
        </p:spPr>
      </p:sp>
      <p:pic>
        <p:nvPicPr>
          <p:cNvPr id="331" name="Google Shape;331;g248f520c002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839411">
            <a:off x="-1443083" y="6288657"/>
            <a:ext cx="4191490" cy="419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248f520c002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683" y="3262679"/>
            <a:ext cx="522487" cy="522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248f520c002_0_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49709" y="1028700"/>
            <a:ext cx="1509591" cy="118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248f520c002_0_20"/>
          <p:cNvPicPr preferRelativeResize="0"/>
          <p:nvPr/>
        </p:nvPicPr>
        <p:blipFill rotWithShape="1">
          <a:blip r:embed="rId6">
            <a:alphaModFix/>
          </a:blip>
          <a:srcRect b="0" l="35892" r="0" t="27408"/>
          <a:stretch/>
        </p:blipFill>
        <p:spPr>
          <a:xfrm>
            <a:off x="15512859" y="7026530"/>
            <a:ext cx="2310578" cy="124274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248f520c002_0_20"/>
          <p:cNvSpPr txBox="1"/>
          <p:nvPr/>
        </p:nvSpPr>
        <p:spPr>
          <a:xfrm>
            <a:off x="1520400" y="4381813"/>
            <a:ext cx="16767600" cy="12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0"/>
              <a:buFont typeface="Arial"/>
              <a:buNone/>
            </a:pPr>
            <a:r>
              <a:rPr b="1" lang="en-US" sz="91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          </a:t>
            </a:r>
            <a:r>
              <a:rPr b="1" lang="en-US" sz="9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b="1" i="0" lang="en-US" sz="9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</a:t>
            </a:r>
            <a:endParaRPr b="1" i="0" sz="7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g248f520c002_0_20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4000">
                <a:solidFill>
                  <a:schemeClr val="lt1"/>
                </a:solidFill>
              </a:rPr>
              <a:t>9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f9f5fa2e05_3_0"/>
          <p:cNvSpPr txBox="1"/>
          <p:nvPr/>
        </p:nvSpPr>
        <p:spPr>
          <a:xfrm>
            <a:off x="-2283100" y="442850"/>
            <a:ext cx="1171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</a:pPr>
            <a:r>
              <a:rPr lang="en-US" sz="90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實驗-</a:t>
            </a:r>
            <a:r>
              <a:rPr i="0" lang="en-US" sz="90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</a:t>
            </a:r>
            <a:endParaRPr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g1f9f5fa2e05_3_0"/>
          <p:cNvSpPr/>
          <p:nvPr/>
        </p:nvSpPr>
        <p:spPr>
          <a:xfrm>
            <a:off x="664750" y="2275400"/>
            <a:ext cx="1359158" cy="138112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g1f9f5fa2e05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7677705">
            <a:off x="961845" y="2584225"/>
            <a:ext cx="769741" cy="76774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1f9f5fa2e05_3_0"/>
          <p:cNvSpPr txBox="1"/>
          <p:nvPr/>
        </p:nvSpPr>
        <p:spPr>
          <a:xfrm>
            <a:off x="1269275" y="4024750"/>
            <a:ext cx="164904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33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0F0D"/>
              </a:buClr>
              <a:buSzPts val="4800"/>
              <a:buFont typeface="Times New Roman"/>
              <a:buAutoNum type="arabicPeriod"/>
            </a:pPr>
            <a:r>
              <a:rPr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Chinese valence-arousal words (CVAW)</a:t>
            </a:r>
            <a:endParaRPr i="0" sz="4800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0F0D"/>
              </a:buClr>
              <a:buSzPts val="4800"/>
              <a:buFont typeface="Times New Roman"/>
              <a:buAutoNum type="arabicPeriod"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Chinese valence-arousal phrases (CVAP)</a:t>
            </a:r>
            <a:endParaRPr sz="4800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0F0D"/>
              </a:buClr>
              <a:buSzPts val="4800"/>
              <a:buFont typeface="Times New Roman"/>
              <a:buAutoNum type="arabicPeriod"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Chinese valence-arousal sentences (CVAS)</a:t>
            </a:r>
            <a:endParaRPr sz="4800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3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0F0D"/>
              </a:buClr>
              <a:buSzPts val="4800"/>
              <a:buFont typeface="Times New Roman"/>
              <a:buAutoNum type="arabicPeriod"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Chinese valence-arousal texts (CVAT)</a:t>
            </a:r>
            <a:endParaRPr sz="4800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g1f9f5fa2e05_3_0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20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1f9f5fa2e05_3_0"/>
          <p:cNvSpPr txBox="1"/>
          <p:nvPr/>
        </p:nvSpPr>
        <p:spPr>
          <a:xfrm>
            <a:off x="2253275" y="2598638"/>
            <a:ext cx="1649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資料集來源Chinese EmoBank中的四個項目 : </a:t>
            </a:r>
            <a:endParaRPr sz="4800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g1f9f5fa2e05_3_0"/>
          <p:cNvSpPr/>
          <p:nvPr/>
        </p:nvSpPr>
        <p:spPr>
          <a:xfrm>
            <a:off x="13703950" y="3951263"/>
            <a:ext cx="1073700" cy="4464900"/>
          </a:xfrm>
          <a:prstGeom prst="rightBrace">
            <a:avLst>
              <a:gd fmla="val 50000" name="adj1"/>
              <a:gd fmla="val 52666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1f9f5fa2e05_3_0"/>
          <p:cNvSpPr txBox="1"/>
          <p:nvPr/>
        </p:nvSpPr>
        <p:spPr>
          <a:xfrm>
            <a:off x="14909100" y="5947238"/>
            <a:ext cx="337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共13299筆</a:t>
            </a:r>
            <a:endParaRPr sz="4800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4ae68b3bef_0_155"/>
          <p:cNvSpPr txBox="1"/>
          <p:nvPr/>
        </p:nvSpPr>
        <p:spPr>
          <a:xfrm>
            <a:off x="-2283100" y="442850"/>
            <a:ext cx="1171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</a:pPr>
            <a:r>
              <a:rPr lang="en-US" sz="90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實驗-</a:t>
            </a:r>
            <a:r>
              <a:rPr i="0" lang="en-US" sz="90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</a:t>
            </a:r>
            <a:endParaRPr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g24ae68b3bef_0_155"/>
          <p:cNvSpPr txBox="1"/>
          <p:nvPr/>
        </p:nvSpPr>
        <p:spPr>
          <a:xfrm>
            <a:off x="749975" y="2209363"/>
            <a:ext cx="1649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33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0F0D"/>
              </a:buClr>
              <a:buSzPts val="4800"/>
              <a:buFont typeface="Times New Roman"/>
              <a:buAutoNum type="arabicPeriod"/>
            </a:pPr>
            <a:r>
              <a:rPr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Chinese valence-arousal words (CVAW)</a:t>
            </a:r>
            <a:endParaRPr sz="4800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g24ae68b3bef_0_15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g24ae68b3bef_0_155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21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g24ae68b3bef_0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088" y="2948268"/>
            <a:ext cx="15502176" cy="5323036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24ae68b3bef_0_155"/>
          <p:cNvSpPr txBox="1"/>
          <p:nvPr/>
        </p:nvSpPr>
        <p:spPr>
          <a:xfrm>
            <a:off x="8263825" y="9073375"/>
            <a:ext cx="8744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包含 5,511 </a:t>
            </a: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個情感多維度型字詞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9" name="Google Shape;359;g24ae68b3bef_0_1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839404">
            <a:off x="15880524" y="-555062"/>
            <a:ext cx="3620607" cy="3620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4ae68b3bef_0_166"/>
          <p:cNvSpPr txBox="1"/>
          <p:nvPr/>
        </p:nvSpPr>
        <p:spPr>
          <a:xfrm>
            <a:off x="-2283100" y="442850"/>
            <a:ext cx="1171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</a:pPr>
            <a:r>
              <a:rPr lang="en-US" sz="90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實驗-</a:t>
            </a:r>
            <a:r>
              <a:rPr i="0" lang="en-US" sz="90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</a:t>
            </a:r>
            <a:endParaRPr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g24ae68b3bef_0_166"/>
          <p:cNvSpPr txBox="1"/>
          <p:nvPr/>
        </p:nvSpPr>
        <p:spPr>
          <a:xfrm>
            <a:off x="749975" y="2209363"/>
            <a:ext cx="1649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2. </a:t>
            </a: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Chinese valence-arousal phrases (CVAP)</a:t>
            </a:r>
            <a:endParaRPr sz="4800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g24ae68b3bef_0_1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g24ae68b3bef_0_166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22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g24ae68b3bef_0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788" y="3329396"/>
            <a:ext cx="15812425" cy="55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g24ae68b3bef_0_166"/>
          <p:cNvSpPr txBox="1"/>
          <p:nvPr/>
        </p:nvSpPr>
        <p:spPr>
          <a:xfrm>
            <a:off x="8263825" y="9073375"/>
            <a:ext cx="8744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包含 2249個情感多維度型</a:t>
            </a: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短語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0" name="Google Shape;370;g24ae68b3bef_0_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839404">
            <a:off x="16088874" y="-674762"/>
            <a:ext cx="3620607" cy="3620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4ae68b3bef_0_174"/>
          <p:cNvSpPr txBox="1"/>
          <p:nvPr/>
        </p:nvSpPr>
        <p:spPr>
          <a:xfrm>
            <a:off x="-2283100" y="442850"/>
            <a:ext cx="1171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</a:pPr>
            <a:r>
              <a:rPr lang="en-US" sz="90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實驗-</a:t>
            </a:r>
            <a:r>
              <a:rPr i="0" lang="en-US" sz="90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</a:t>
            </a:r>
            <a:endParaRPr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g24ae68b3bef_0_174"/>
          <p:cNvSpPr txBox="1"/>
          <p:nvPr/>
        </p:nvSpPr>
        <p:spPr>
          <a:xfrm>
            <a:off x="749975" y="2209363"/>
            <a:ext cx="1649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Chinese valence-arousal sentences (CVAS)</a:t>
            </a:r>
            <a:endParaRPr sz="4800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g24ae68b3bef_0_17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8" name="Google Shape;378;g24ae68b3bef_0_174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23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g24ae68b3bef_0_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88" y="3483151"/>
            <a:ext cx="17443426" cy="448711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24ae68b3bef_0_174"/>
          <p:cNvSpPr txBox="1"/>
          <p:nvPr/>
        </p:nvSpPr>
        <p:spPr>
          <a:xfrm>
            <a:off x="8167475" y="8894775"/>
            <a:ext cx="8744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包含 2583 個情感多維度型</a:t>
            </a: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句子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1" name="Google Shape;381;g24ae68b3bef_0_1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839404">
            <a:off x="16029349" y="-674762"/>
            <a:ext cx="3620607" cy="3620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4ae68b3bef_0_182"/>
          <p:cNvSpPr txBox="1"/>
          <p:nvPr/>
        </p:nvSpPr>
        <p:spPr>
          <a:xfrm>
            <a:off x="-2283100" y="442850"/>
            <a:ext cx="1171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</a:pPr>
            <a:r>
              <a:rPr lang="en-US" sz="90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實驗-</a:t>
            </a:r>
            <a:r>
              <a:rPr i="0" lang="en-US" sz="90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資料集</a:t>
            </a:r>
            <a:endParaRPr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g24ae68b3bef_0_182"/>
          <p:cNvSpPr txBox="1"/>
          <p:nvPr/>
        </p:nvSpPr>
        <p:spPr>
          <a:xfrm>
            <a:off x="749975" y="2209363"/>
            <a:ext cx="1649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Chinese valence-arousal texts (CVAT)</a:t>
            </a:r>
            <a:endParaRPr sz="4800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g24ae68b3bef_0_18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9" name="Google Shape;389;g24ae68b3bef_0_182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24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g24ae68b3bef_0_1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75" y="3329410"/>
            <a:ext cx="17606051" cy="406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24ae68b3bef_0_182"/>
          <p:cNvSpPr txBox="1"/>
          <p:nvPr/>
        </p:nvSpPr>
        <p:spPr>
          <a:xfrm>
            <a:off x="8167475" y="8894775"/>
            <a:ext cx="8744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包含 2968個</a:t>
            </a: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情感多維度型文本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2" name="Google Shape;392;g24ae68b3bef_0_1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839404">
            <a:off x="16178174" y="-674762"/>
            <a:ext cx="3620607" cy="3620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4d91005a01_0_16"/>
          <p:cNvSpPr txBox="1"/>
          <p:nvPr/>
        </p:nvSpPr>
        <p:spPr>
          <a:xfrm>
            <a:off x="-3057000" y="502400"/>
            <a:ext cx="1171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</a:pPr>
            <a:r>
              <a:rPr i="0" lang="en-US" sz="90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資料前處理</a:t>
            </a:r>
            <a:endParaRPr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g24d91005a01_0_16"/>
          <p:cNvSpPr txBox="1"/>
          <p:nvPr/>
        </p:nvSpPr>
        <p:spPr>
          <a:xfrm>
            <a:off x="11431800" y="3851063"/>
            <a:ext cx="55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g24d91005a01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564474" y="502399"/>
            <a:ext cx="2355650" cy="20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g24d91005a01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88810" y="7925311"/>
            <a:ext cx="3067974" cy="30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24d91005a01_0_16"/>
          <p:cNvSpPr txBox="1"/>
          <p:nvPr/>
        </p:nvSpPr>
        <p:spPr>
          <a:xfrm>
            <a:off x="869263" y="2309926"/>
            <a:ext cx="165495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Times New Roman"/>
              <a:buAutoNum type="arabicPeriod"/>
            </a:pPr>
            <a:r>
              <a:rPr i="0" lang="en-US" sz="6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剔除過長的樣本(超過512個字)</a:t>
            </a:r>
            <a:endParaRPr i="0" sz="6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Times New Roman"/>
              <a:buAutoNum type="arabicPeriod"/>
            </a:pPr>
            <a:r>
              <a:rPr i="0" lang="en-US" sz="6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資料清洗(標點符號.URL.@.hashtag.英文)</a:t>
            </a:r>
            <a:endParaRPr i="0" sz="6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g24d91005a01_0_16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4000">
                <a:solidFill>
                  <a:srgbClr val="100F0D"/>
                </a:solidFill>
              </a:rPr>
              <a:t>5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g24d91005a01_0_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9722" y="4886985"/>
            <a:ext cx="14088575" cy="512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87e80174ab_0_30"/>
          <p:cNvSpPr txBox="1"/>
          <p:nvPr/>
        </p:nvSpPr>
        <p:spPr>
          <a:xfrm>
            <a:off x="607225" y="712638"/>
            <a:ext cx="11712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</a:pPr>
            <a:r>
              <a:rPr lang="en-US" sz="90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實驗-評估標準</a:t>
            </a:r>
            <a:endParaRPr i="0" sz="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g287e80174ab_0_30"/>
          <p:cNvSpPr txBox="1"/>
          <p:nvPr/>
        </p:nvSpPr>
        <p:spPr>
          <a:xfrm>
            <a:off x="11431800" y="3851063"/>
            <a:ext cx="55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g287e80174ab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564474" y="502399"/>
            <a:ext cx="2355650" cy="20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g287e80174ab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88810" y="7925311"/>
            <a:ext cx="3067974" cy="30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287e80174ab_0_30"/>
          <p:cNvSpPr txBox="1"/>
          <p:nvPr/>
        </p:nvSpPr>
        <p:spPr>
          <a:xfrm>
            <a:off x="979175" y="2579663"/>
            <a:ext cx="165495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35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Char char="●"/>
            </a:pPr>
            <a:r>
              <a:rPr lang="en-US" sz="6400"/>
              <a:t>本專題實驗評估方式採用F1-measure以及準確率(Accuracy)</a:t>
            </a:r>
            <a:endParaRPr sz="64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t/>
            </a:r>
            <a:endParaRPr b="0" i="0" sz="6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t/>
            </a:r>
            <a:endParaRPr b="0" i="0" sz="6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287e80174ab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" name="Google Shape;414;g287e80174ab_0_30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4000">
                <a:solidFill>
                  <a:srgbClr val="100F0D"/>
                </a:solidFill>
              </a:rPr>
              <a:t>6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g287e80174ab_0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86550" y="5072200"/>
            <a:ext cx="10160208" cy="471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87e80174ab_0_41"/>
          <p:cNvSpPr txBox="1"/>
          <p:nvPr/>
        </p:nvSpPr>
        <p:spPr>
          <a:xfrm>
            <a:off x="607225" y="712638"/>
            <a:ext cx="1171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</a:pPr>
            <a:r>
              <a:rPr lang="en-US" sz="72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實驗-評估標準</a:t>
            </a:r>
            <a:endParaRPr i="0" sz="7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g287e80174ab_0_41"/>
          <p:cNvSpPr txBox="1"/>
          <p:nvPr/>
        </p:nvSpPr>
        <p:spPr>
          <a:xfrm>
            <a:off x="11431800" y="3851063"/>
            <a:ext cx="55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g287e80174ab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564474" y="502399"/>
            <a:ext cx="2355650" cy="20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g287e80174ab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88810" y="7925311"/>
            <a:ext cx="3067974" cy="30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g287e80174ab_0_41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4000">
                <a:solidFill>
                  <a:srgbClr val="100F0D"/>
                </a:solidFill>
              </a:rPr>
              <a:t>7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425;g287e80174ab_0_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226" y="2098050"/>
            <a:ext cx="8015898" cy="352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g287e80174ab_0_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1225" y="6122125"/>
            <a:ext cx="8015898" cy="350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287e80174ab_0_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95625" y="2098050"/>
            <a:ext cx="8142623" cy="352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287e80174ab_0_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466875" y="6122125"/>
            <a:ext cx="7971374" cy="350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5e4724fcbd_1_34"/>
          <p:cNvSpPr txBox="1"/>
          <p:nvPr/>
        </p:nvSpPr>
        <p:spPr>
          <a:xfrm>
            <a:off x="607225" y="712650"/>
            <a:ext cx="1392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</a:pPr>
            <a:r>
              <a:rPr lang="en-US" sz="72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實驗-結果(BERT Model)</a:t>
            </a:r>
            <a:endParaRPr i="0" sz="7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g25e4724fcbd_1_34"/>
          <p:cNvSpPr txBox="1"/>
          <p:nvPr/>
        </p:nvSpPr>
        <p:spPr>
          <a:xfrm>
            <a:off x="11431800" y="3851063"/>
            <a:ext cx="55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5" name="Google Shape;435;g25e4724fcbd_1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564474" y="502399"/>
            <a:ext cx="2355650" cy="20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g25e4724fcbd_1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88810" y="7925311"/>
            <a:ext cx="3067974" cy="30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25e4724fcbd_1_34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4000">
                <a:solidFill>
                  <a:srgbClr val="100F0D"/>
                </a:solidFill>
              </a:rPr>
              <a:t>8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g25e4724fcbd_1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876" y="3055838"/>
            <a:ext cx="17938250" cy="561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87e80174ab_0_53"/>
          <p:cNvSpPr txBox="1"/>
          <p:nvPr/>
        </p:nvSpPr>
        <p:spPr>
          <a:xfrm>
            <a:off x="607225" y="712650"/>
            <a:ext cx="1455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None/>
            </a:pPr>
            <a:r>
              <a:rPr lang="en-US" sz="72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實驗-結果(BERT-CNN Model)</a:t>
            </a:r>
            <a:endParaRPr i="0" sz="7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g287e80174ab_0_53"/>
          <p:cNvSpPr txBox="1"/>
          <p:nvPr/>
        </p:nvSpPr>
        <p:spPr>
          <a:xfrm>
            <a:off x="11431800" y="3851063"/>
            <a:ext cx="55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g287e80174ab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564474" y="502399"/>
            <a:ext cx="2355650" cy="20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287e80174ab_0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88810" y="7925311"/>
            <a:ext cx="3067974" cy="30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287e80174ab_0_53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g287e80174ab_0_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163" y="2945412"/>
            <a:ext cx="17729675" cy="6314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01e244fdfd_0_259"/>
          <p:cNvSpPr/>
          <p:nvPr/>
        </p:nvSpPr>
        <p:spPr>
          <a:xfrm>
            <a:off x="0" y="2100"/>
            <a:ext cx="20241257" cy="10282809"/>
          </a:xfrm>
          <a:custGeom>
            <a:rect b="b" l="l" r="r" t="t"/>
            <a:pathLst>
              <a:path extrusionOk="0" h="3479800" w="1298557">
                <a:moveTo>
                  <a:pt x="0" y="0"/>
                </a:moveTo>
                <a:lnTo>
                  <a:pt x="1298557" y="0"/>
                </a:lnTo>
                <a:lnTo>
                  <a:pt x="1298557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100F0D"/>
          </a:solidFill>
          <a:ln>
            <a:noFill/>
          </a:ln>
        </p:spPr>
      </p:sp>
      <p:pic>
        <p:nvPicPr>
          <p:cNvPr id="454" name="Google Shape;454;g201e244fdfd_0_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839411">
            <a:off x="-1443083" y="6288657"/>
            <a:ext cx="4191490" cy="419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201e244fdfd_0_2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683" y="3262679"/>
            <a:ext cx="522487" cy="522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201e244fdfd_0_2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49709" y="1028700"/>
            <a:ext cx="1509591" cy="118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g201e244fdfd_0_259"/>
          <p:cNvPicPr preferRelativeResize="0"/>
          <p:nvPr/>
        </p:nvPicPr>
        <p:blipFill rotWithShape="1">
          <a:blip r:embed="rId6">
            <a:alphaModFix/>
          </a:blip>
          <a:srcRect b="0" l="35892" r="0" t="27408"/>
          <a:stretch/>
        </p:blipFill>
        <p:spPr>
          <a:xfrm>
            <a:off x="15512859" y="7026530"/>
            <a:ext cx="2310578" cy="124274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g201e244fdfd_0_259"/>
          <p:cNvSpPr txBox="1"/>
          <p:nvPr/>
        </p:nvSpPr>
        <p:spPr>
          <a:xfrm>
            <a:off x="1736825" y="4381813"/>
            <a:ext cx="16767600" cy="12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0"/>
              <a:buFont typeface="Arial"/>
              <a:buNone/>
            </a:pPr>
            <a:r>
              <a:rPr b="1" lang="en-US" sz="9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使用者介面</a:t>
            </a:r>
            <a:endParaRPr b="1" i="0" sz="7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g201e244fdfd_0_259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30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03bd80a97b_0_0"/>
          <p:cNvSpPr/>
          <p:nvPr/>
        </p:nvSpPr>
        <p:spPr>
          <a:xfrm>
            <a:off x="9856975" y="4078413"/>
            <a:ext cx="1185312" cy="1143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203bd80a97b_0_0"/>
          <p:cNvSpPr txBox="1"/>
          <p:nvPr/>
        </p:nvSpPr>
        <p:spPr>
          <a:xfrm>
            <a:off x="418325" y="502400"/>
            <a:ext cx="11712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使用者</a:t>
            </a:r>
            <a:r>
              <a:rPr lang="en-US" sz="8500">
                <a:solidFill>
                  <a:srgbClr val="100F0D"/>
                </a:solidFill>
              </a:rPr>
              <a:t>介面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6" name="Google Shape;466;g203bd80a97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564474" y="502399"/>
            <a:ext cx="2355650" cy="20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203bd80a97b_0_0"/>
          <p:cNvSpPr/>
          <p:nvPr/>
        </p:nvSpPr>
        <p:spPr>
          <a:xfrm>
            <a:off x="993677" y="2292725"/>
            <a:ext cx="1185312" cy="1143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203bd80a97b_0_0"/>
          <p:cNvSpPr/>
          <p:nvPr/>
        </p:nvSpPr>
        <p:spPr>
          <a:xfrm>
            <a:off x="993677" y="4111750"/>
            <a:ext cx="1185312" cy="1143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203bd80a97b_0_0"/>
          <p:cNvSpPr/>
          <p:nvPr/>
        </p:nvSpPr>
        <p:spPr>
          <a:xfrm>
            <a:off x="993677" y="8123300"/>
            <a:ext cx="1185312" cy="1143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203bd80a97b_0_0"/>
          <p:cNvSpPr txBox="1"/>
          <p:nvPr/>
        </p:nvSpPr>
        <p:spPr>
          <a:xfrm>
            <a:off x="1272837" y="2479475"/>
            <a:ext cx="627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203bd80a97b_0_0"/>
          <p:cNvSpPr txBox="1"/>
          <p:nvPr/>
        </p:nvSpPr>
        <p:spPr>
          <a:xfrm>
            <a:off x="1272837" y="8290563"/>
            <a:ext cx="627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203bd80a97b_0_0"/>
          <p:cNvSpPr txBox="1"/>
          <p:nvPr/>
        </p:nvSpPr>
        <p:spPr>
          <a:xfrm>
            <a:off x="1272850" y="4303763"/>
            <a:ext cx="627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203bd80a97b_0_0"/>
          <p:cNvSpPr txBox="1"/>
          <p:nvPr/>
        </p:nvSpPr>
        <p:spPr>
          <a:xfrm>
            <a:off x="2504013" y="5551875"/>
            <a:ext cx="1541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g203bd80a97b_0_0"/>
          <p:cNvSpPr txBox="1"/>
          <p:nvPr/>
        </p:nvSpPr>
        <p:spPr>
          <a:xfrm>
            <a:off x="2609025" y="4313800"/>
            <a:ext cx="471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登入註冊畫面</a:t>
            </a:r>
            <a:endParaRPr i="0" sz="4800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g203bd80a97b_0_0"/>
          <p:cNvSpPr txBox="1"/>
          <p:nvPr/>
        </p:nvSpPr>
        <p:spPr>
          <a:xfrm>
            <a:off x="2609025" y="6319575"/>
            <a:ext cx="599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填寫基本資訊頁面</a:t>
            </a:r>
            <a:endParaRPr i="0" sz="4800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g203bd80a97b_0_0"/>
          <p:cNvSpPr txBox="1"/>
          <p:nvPr/>
        </p:nvSpPr>
        <p:spPr>
          <a:xfrm>
            <a:off x="11367317" y="2386038"/>
            <a:ext cx="517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聊天室</a:t>
            </a:r>
            <a:endParaRPr b="0" i="0" sz="4800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g203bd80a97b_0_0"/>
          <p:cNvSpPr/>
          <p:nvPr/>
        </p:nvSpPr>
        <p:spPr>
          <a:xfrm>
            <a:off x="993677" y="6117513"/>
            <a:ext cx="1185312" cy="1143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203bd80a97b_0_0"/>
          <p:cNvSpPr txBox="1"/>
          <p:nvPr/>
        </p:nvSpPr>
        <p:spPr>
          <a:xfrm>
            <a:off x="1272837" y="6284775"/>
            <a:ext cx="627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203bd80a97b_0_0"/>
          <p:cNvSpPr txBox="1"/>
          <p:nvPr/>
        </p:nvSpPr>
        <p:spPr>
          <a:xfrm>
            <a:off x="2504013" y="3505300"/>
            <a:ext cx="1541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g203bd80a97b_0_0"/>
          <p:cNvSpPr txBox="1"/>
          <p:nvPr/>
        </p:nvSpPr>
        <p:spPr>
          <a:xfrm>
            <a:off x="2504017" y="8402600"/>
            <a:ext cx="447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交友匹配畫面</a:t>
            </a:r>
            <a:endParaRPr i="0" sz="4800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g203bd80a97b_0_0"/>
          <p:cNvSpPr/>
          <p:nvPr/>
        </p:nvSpPr>
        <p:spPr>
          <a:xfrm>
            <a:off x="9856977" y="2292725"/>
            <a:ext cx="1185312" cy="1143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203bd80a97b_0_0"/>
          <p:cNvSpPr txBox="1"/>
          <p:nvPr/>
        </p:nvSpPr>
        <p:spPr>
          <a:xfrm>
            <a:off x="9921175" y="2472763"/>
            <a:ext cx="105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203bd80a97b_0_0"/>
          <p:cNvSpPr txBox="1"/>
          <p:nvPr/>
        </p:nvSpPr>
        <p:spPr>
          <a:xfrm>
            <a:off x="11367313" y="2474675"/>
            <a:ext cx="1541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i="0" sz="4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g203bd80a97b_0_0"/>
          <p:cNvSpPr txBox="1"/>
          <p:nvPr/>
        </p:nvSpPr>
        <p:spPr>
          <a:xfrm>
            <a:off x="11367325" y="4289950"/>
            <a:ext cx="517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個人資訊頁面</a:t>
            </a:r>
            <a:endParaRPr i="0" sz="4800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g203bd80a97b_0_0"/>
          <p:cNvSpPr txBox="1"/>
          <p:nvPr/>
        </p:nvSpPr>
        <p:spPr>
          <a:xfrm>
            <a:off x="2609023" y="2474663"/>
            <a:ext cx="517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首頁</a:t>
            </a:r>
            <a:endParaRPr i="0" sz="4800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g203bd80a97b_0_0"/>
          <p:cNvSpPr txBox="1"/>
          <p:nvPr/>
        </p:nvSpPr>
        <p:spPr>
          <a:xfrm>
            <a:off x="9921188" y="4249738"/>
            <a:ext cx="105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203bd80a97b_0_0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31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203bd80a97b_0_0"/>
          <p:cNvSpPr/>
          <p:nvPr/>
        </p:nvSpPr>
        <p:spPr>
          <a:xfrm>
            <a:off x="9921202" y="6039825"/>
            <a:ext cx="1185312" cy="1143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203bd80a97b_0_0"/>
          <p:cNvSpPr txBox="1"/>
          <p:nvPr/>
        </p:nvSpPr>
        <p:spPr>
          <a:xfrm>
            <a:off x="10200362" y="6226575"/>
            <a:ext cx="627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>
                <a:solidFill>
                  <a:schemeClr val="lt1"/>
                </a:solidFill>
              </a:rPr>
              <a:t>7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203bd80a97b_0_0"/>
          <p:cNvSpPr txBox="1"/>
          <p:nvPr/>
        </p:nvSpPr>
        <p:spPr>
          <a:xfrm>
            <a:off x="11536548" y="6221763"/>
            <a:ext cx="517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聊天機器人</a:t>
            </a:r>
            <a:endParaRPr i="0" sz="4800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4ae68b3bef_0_442"/>
          <p:cNvSpPr txBox="1"/>
          <p:nvPr/>
        </p:nvSpPr>
        <p:spPr>
          <a:xfrm>
            <a:off x="418325" y="502400"/>
            <a:ext cx="11712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使用者</a:t>
            </a:r>
            <a:r>
              <a:rPr lang="en-US" sz="8500">
                <a:solidFill>
                  <a:srgbClr val="100F0D"/>
                </a:solidFill>
              </a:rPr>
              <a:t>介面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6" name="Google Shape;496;g24ae68b3bef_0_4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564474" y="502399"/>
            <a:ext cx="2355650" cy="20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g24ae68b3bef_0_442"/>
          <p:cNvSpPr txBox="1"/>
          <p:nvPr/>
        </p:nvSpPr>
        <p:spPr>
          <a:xfrm>
            <a:off x="2162317" y="2055563"/>
            <a:ext cx="517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聊天</a:t>
            </a:r>
            <a:r>
              <a:rPr lang="en-US" sz="4800">
                <a:solidFill>
                  <a:srgbClr val="100F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機器人</a:t>
            </a:r>
            <a:endParaRPr b="0" i="0" sz="4800" u="none" cap="none" strike="noStrike">
              <a:solidFill>
                <a:srgbClr val="100F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g24ae68b3bef_0_442"/>
          <p:cNvSpPr/>
          <p:nvPr/>
        </p:nvSpPr>
        <p:spPr>
          <a:xfrm>
            <a:off x="596902" y="1860225"/>
            <a:ext cx="1185312" cy="1143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24ae68b3bef_0_442"/>
          <p:cNvSpPr txBox="1"/>
          <p:nvPr/>
        </p:nvSpPr>
        <p:spPr>
          <a:xfrm>
            <a:off x="661100" y="2040263"/>
            <a:ext cx="105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>
                <a:solidFill>
                  <a:schemeClr val="lt1"/>
                </a:solidFill>
              </a:rPr>
              <a:t>7</a:t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24ae68b3bef_0_442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32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Google Shape;501;g24ae68b3bef_0_4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9142" y="2055575"/>
            <a:ext cx="15886858" cy="801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4ae68b3bef_0_235"/>
          <p:cNvSpPr txBox="1"/>
          <p:nvPr/>
        </p:nvSpPr>
        <p:spPr>
          <a:xfrm>
            <a:off x="1028700" y="1152525"/>
            <a:ext cx="12911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角色扮演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24ae68b3bef_0_235"/>
          <p:cNvSpPr/>
          <p:nvPr/>
        </p:nvSpPr>
        <p:spPr>
          <a:xfrm>
            <a:off x="637029" y="3179491"/>
            <a:ext cx="1533004" cy="153987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g24ae68b3bef_0_235"/>
          <p:cNvSpPr txBox="1"/>
          <p:nvPr/>
        </p:nvSpPr>
        <p:spPr>
          <a:xfrm>
            <a:off x="2888388" y="3179491"/>
            <a:ext cx="51420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6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Joy</a:t>
            </a:r>
            <a:endParaRPr b="0" i="0" sz="6000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6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第一象限</a:t>
            </a:r>
            <a:endParaRPr b="0" i="0" sz="6000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24ae68b3bef_0_235"/>
          <p:cNvSpPr/>
          <p:nvPr/>
        </p:nvSpPr>
        <p:spPr>
          <a:xfrm>
            <a:off x="16083213" y="-354547"/>
            <a:ext cx="2655099" cy="2667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0" name="Google Shape;510;g24ae68b3bef_0_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5106527" y="981625"/>
            <a:ext cx="2306896" cy="1196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g24ae68b3bef_0_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7696351">
            <a:off x="940665" y="3519829"/>
            <a:ext cx="859217" cy="859217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g24ae68b3bef_0_235"/>
          <p:cNvSpPr/>
          <p:nvPr/>
        </p:nvSpPr>
        <p:spPr>
          <a:xfrm>
            <a:off x="685804" y="6893654"/>
            <a:ext cx="1533004" cy="153987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24ae68b3bef_0_235"/>
          <p:cNvSpPr txBox="1"/>
          <p:nvPr/>
        </p:nvSpPr>
        <p:spPr>
          <a:xfrm>
            <a:off x="2561700" y="6846113"/>
            <a:ext cx="77445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6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Anger</a:t>
            </a:r>
            <a:endParaRPr b="0" i="0" sz="6000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6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第二象限</a:t>
            </a:r>
            <a:endParaRPr b="0" i="0" sz="6000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4" name="Google Shape;514;g24ae68b3bef_0_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7696384">
            <a:off x="957460" y="7202021"/>
            <a:ext cx="923180" cy="92318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g24ae68b3bef_0_235"/>
          <p:cNvSpPr txBox="1"/>
          <p:nvPr/>
        </p:nvSpPr>
        <p:spPr>
          <a:xfrm>
            <a:off x="16800950" y="9625175"/>
            <a:ext cx="12066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33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24ae68b3bef_0_235"/>
          <p:cNvSpPr/>
          <p:nvPr/>
        </p:nvSpPr>
        <p:spPr>
          <a:xfrm>
            <a:off x="9625079" y="3211629"/>
            <a:ext cx="1533004" cy="153987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24ae68b3bef_0_235"/>
          <p:cNvSpPr txBox="1"/>
          <p:nvPr/>
        </p:nvSpPr>
        <p:spPr>
          <a:xfrm>
            <a:off x="11468600" y="2960016"/>
            <a:ext cx="51420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6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Sadness</a:t>
            </a:r>
            <a:endParaRPr b="0" i="0" sz="6000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6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第三象限</a:t>
            </a:r>
            <a:endParaRPr b="0" i="0" sz="6000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g24ae68b3bef_0_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7696351">
            <a:off x="9928715" y="3551966"/>
            <a:ext cx="859217" cy="859217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g24ae68b3bef_0_235"/>
          <p:cNvSpPr/>
          <p:nvPr/>
        </p:nvSpPr>
        <p:spPr>
          <a:xfrm>
            <a:off x="9625079" y="6664491"/>
            <a:ext cx="1533004" cy="153987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24ae68b3bef_0_235"/>
          <p:cNvSpPr txBox="1"/>
          <p:nvPr/>
        </p:nvSpPr>
        <p:spPr>
          <a:xfrm>
            <a:off x="11468600" y="6813988"/>
            <a:ext cx="77445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6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Peace</a:t>
            </a:r>
            <a:endParaRPr b="0" i="0" sz="6000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6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第四象限</a:t>
            </a:r>
            <a:endParaRPr b="0" i="0" sz="6000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1" name="Google Shape;521;g24ae68b3bef_0_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7696384">
            <a:off x="9896735" y="6972858"/>
            <a:ext cx="923180" cy="92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g24ae68b3bef_0_2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2748" y="2379147"/>
            <a:ext cx="3296999" cy="3299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4ae68b3bef_0_2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38421" y="5745723"/>
            <a:ext cx="2974999" cy="4193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g24ae68b3bef_0_2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80050" y="5837816"/>
            <a:ext cx="2975000" cy="4434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g24ae68b3bef_0_2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106525" y="2719188"/>
            <a:ext cx="2975001" cy="2619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5e4724fcbd_1_0"/>
          <p:cNvSpPr txBox="1"/>
          <p:nvPr/>
        </p:nvSpPr>
        <p:spPr>
          <a:xfrm>
            <a:off x="418325" y="502400"/>
            <a:ext cx="11712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lang="en-US" sz="8500">
                <a:solidFill>
                  <a:srgbClr val="100F0D"/>
                </a:solidFill>
              </a:rPr>
              <a:t>DEMO 影片: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1" name="Google Shape;531;g25e4724fcbd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564474" y="502399"/>
            <a:ext cx="2355650" cy="20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g25e4724fcbd_1_0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34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3" name="Google Shape;533;g25e4724fcbd_1_0" title="MonsBERT Dem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3838" y="1810700"/>
            <a:ext cx="14240325" cy="80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4ae68b3bef_0_27"/>
          <p:cNvSpPr/>
          <p:nvPr/>
        </p:nvSpPr>
        <p:spPr>
          <a:xfrm>
            <a:off x="0" y="2100"/>
            <a:ext cx="20241257" cy="10282809"/>
          </a:xfrm>
          <a:custGeom>
            <a:rect b="b" l="l" r="r" t="t"/>
            <a:pathLst>
              <a:path extrusionOk="0" h="3479800" w="1298557">
                <a:moveTo>
                  <a:pt x="0" y="0"/>
                </a:moveTo>
                <a:lnTo>
                  <a:pt x="1298557" y="0"/>
                </a:lnTo>
                <a:lnTo>
                  <a:pt x="1298557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100F0D"/>
          </a:solidFill>
          <a:ln>
            <a:noFill/>
          </a:ln>
        </p:spPr>
      </p:sp>
      <p:pic>
        <p:nvPicPr>
          <p:cNvPr id="539" name="Google Shape;539;g24ae68b3bef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839411">
            <a:off x="-1443083" y="6288657"/>
            <a:ext cx="4191490" cy="419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g24ae68b3bef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683" y="3262679"/>
            <a:ext cx="522487" cy="522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g24ae68b3bef_0_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49709" y="1028700"/>
            <a:ext cx="1509591" cy="118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g24ae68b3bef_0_27"/>
          <p:cNvPicPr preferRelativeResize="0"/>
          <p:nvPr/>
        </p:nvPicPr>
        <p:blipFill rotWithShape="1">
          <a:blip r:embed="rId6">
            <a:alphaModFix/>
          </a:blip>
          <a:srcRect b="0" l="35893" r="0" t="27409"/>
          <a:stretch/>
        </p:blipFill>
        <p:spPr>
          <a:xfrm>
            <a:off x="15512859" y="7026530"/>
            <a:ext cx="2310578" cy="124274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g24ae68b3bef_0_27"/>
          <p:cNvSpPr txBox="1"/>
          <p:nvPr/>
        </p:nvSpPr>
        <p:spPr>
          <a:xfrm>
            <a:off x="1736825" y="4311025"/>
            <a:ext cx="167676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結論</a:t>
            </a:r>
            <a:endParaRPr b="1" i="0" sz="96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4" name="Google Shape;544;g24ae68b3bef_0_27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4000">
                <a:solidFill>
                  <a:schemeClr val="lt1"/>
                </a:solidFill>
              </a:rPr>
              <a:t>5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4ae68b3bef_0_37"/>
          <p:cNvSpPr txBox="1"/>
          <p:nvPr/>
        </p:nvSpPr>
        <p:spPr>
          <a:xfrm>
            <a:off x="1028700" y="1152525"/>
            <a:ext cx="12911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結論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24ae68b3bef_0_37"/>
          <p:cNvSpPr/>
          <p:nvPr/>
        </p:nvSpPr>
        <p:spPr>
          <a:xfrm>
            <a:off x="1751888" y="3182886"/>
            <a:ext cx="1201116" cy="119062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24ae68b3bef_0_37"/>
          <p:cNvSpPr/>
          <p:nvPr/>
        </p:nvSpPr>
        <p:spPr>
          <a:xfrm>
            <a:off x="1728588" y="6821623"/>
            <a:ext cx="1201116" cy="119062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24ae68b3bef_0_37"/>
          <p:cNvSpPr txBox="1"/>
          <p:nvPr/>
        </p:nvSpPr>
        <p:spPr>
          <a:xfrm>
            <a:off x="3612300" y="6912038"/>
            <a:ext cx="138012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100F0D"/>
                </a:solidFill>
              </a:rPr>
              <a:t>希冀在未來能依靠所學使本系統更加完善，並提供更精準的模型預測。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24ae68b3bef_0_37"/>
          <p:cNvSpPr txBox="1"/>
          <p:nvPr/>
        </p:nvSpPr>
        <p:spPr>
          <a:xfrm>
            <a:off x="3612300" y="3013888"/>
            <a:ext cx="141453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100F0D"/>
                </a:solidFill>
              </a:rPr>
              <a:t>本專題運用深度學習建構出精準度高的模型、正確的配對使用者，最後結合網頁的方式來展現成果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4" name="Google Shape;554;g24ae68b3bef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32226" y="8239854"/>
            <a:ext cx="3026428" cy="267235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g24ae68b3bef_0_37"/>
          <p:cNvSpPr/>
          <p:nvPr/>
        </p:nvSpPr>
        <p:spPr>
          <a:xfrm>
            <a:off x="16083213" y="-354547"/>
            <a:ext cx="2655099" cy="2667000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6" name="Google Shape;556;g24ae68b3bef_0_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15106527" y="981625"/>
            <a:ext cx="2306896" cy="1196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g24ae68b3bef_0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7718048">
            <a:off x="1993612" y="3444685"/>
            <a:ext cx="671088" cy="673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g24ae68b3bef_0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7718537">
            <a:off x="1944352" y="7057114"/>
            <a:ext cx="717461" cy="719677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g24ae68b3bef_0_37"/>
          <p:cNvSpPr/>
          <p:nvPr/>
        </p:nvSpPr>
        <p:spPr>
          <a:xfrm>
            <a:off x="1681175" y="5002251"/>
            <a:ext cx="1295941" cy="119062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24ae68b3bef_0_37"/>
          <p:cNvSpPr txBox="1"/>
          <p:nvPr/>
        </p:nvSpPr>
        <p:spPr>
          <a:xfrm>
            <a:off x="3612300" y="5071951"/>
            <a:ext cx="138012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100F0D"/>
                </a:solidFill>
              </a:rPr>
              <a:t>透過這次的專題幫助大眾找到想要透過內在來交友的配對系統。現在的系統仍有許多能夠進步之處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1" name="Google Shape;561;g24ae68b3bef_0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7846471">
            <a:off x="1931196" y="5220145"/>
            <a:ext cx="740933" cy="75639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g24ae68b3bef_0_37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100F0D"/>
                </a:solidFill>
              </a:rPr>
              <a:t>36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4ae68b3bef_0_54"/>
          <p:cNvSpPr/>
          <p:nvPr/>
        </p:nvSpPr>
        <p:spPr>
          <a:xfrm>
            <a:off x="0" y="2100"/>
            <a:ext cx="19621196" cy="10282809"/>
          </a:xfrm>
          <a:custGeom>
            <a:rect b="b" l="l" r="r" t="t"/>
            <a:pathLst>
              <a:path extrusionOk="0" h="3479800" w="1298557">
                <a:moveTo>
                  <a:pt x="0" y="0"/>
                </a:moveTo>
                <a:lnTo>
                  <a:pt x="1298557" y="0"/>
                </a:lnTo>
                <a:lnTo>
                  <a:pt x="1298557" y="3479800"/>
                </a:lnTo>
                <a:lnTo>
                  <a:pt x="0" y="3479800"/>
                </a:lnTo>
                <a:close/>
              </a:path>
            </a:pathLst>
          </a:custGeom>
          <a:solidFill>
            <a:srgbClr val="100F0D"/>
          </a:solidFill>
          <a:ln>
            <a:noFill/>
          </a:ln>
        </p:spPr>
      </p:sp>
      <p:pic>
        <p:nvPicPr>
          <p:cNvPr id="568" name="Google Shape;568;g24ae68b3bef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839411">
            <a:off x="-1443083" y="6288657"/>
            <a:ext cx="4191490" cy="419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g24ae68b3bef_0_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683" y="3262679"/>
            <a:ext cx="522487" cy="522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g24ae68b3bef_0_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49709" y="1028700"/>
            <a:ext cx="1509591" cy="118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g24ae68b3bef_0_54"/>
          <p:cNvPicPr preferRelativeResize="0"/>
          <p:nvPr/>
        </p:nvPicPr>
        <p:blipFill rotWithShape="1">
          <a:blip r:embed="rId6">
            <a:alphaModFix/>
          </a:blip>
          <a:srcRect b="0" l="35893" r="0" t="27409"/>
          <a:stretch/>
        </p:blipFill>
        <p:spPr>
          <a:xfrm>
            <a:off x="15512859" y="7026530"/>
            <a:ext cx="2310578" cy="124274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g24ae68b3bef_0_54"/>
          <p:cNvSpPr txBox="1"/>
          <p:nvPr/>
        </p:nvSpPr>
        <p:spPr>
          <a:xfrm>
            <a:off x="1426800" y="4649838"/>
            <a:ext cx="167676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參考文獻</a:t>
            </a:r>
            <a:endParaRPr b="1" i="0" sz="96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3" name="Google Shape;573;g24ae68b3bef_0_54"/>
          <p:cNvSpPr txBox="1"/>
          <p:nvPr/>
        </p:nvSpPr>
        <p:spPr>
          <a:xfrm>
            <a:off x="17554500" y="9625175"/>
            <a:ext cx="7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100F0D"/>
                </a:solidFill>
                <a:latin typeface="Nunito Medium"/>
                <a:ea typeface="Nunito Medium"/>
                <a:cs typeface="Nunito Medium"/>
                <a:sym typeface="Nunito Medium"/>
              </a:rPr>
              <a:t>19.</a:t>
            </a:r>
            <a:endParaRPr b="0" i="0" sz="3600" u="none" cap="none" strike="noStrik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574" name="Google Shape;574;g24ae68b3bef_0_54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37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4ae68b3bef_0_65"/>
          <p:cNvSpPr txBox="1"/>
          <p:nvPr/>
        </p:nvSpPr>
        <p:spPr>
          <a:xfrm>
            <a:off x="1028700" y="2954825"/>
            <a:ext cx="16477200" cy="6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1.吳佩珊（2022）。使用BERT-CNN進行Twitter 使用者之立場偵測。﹝碩士論文。國立臺灣師範大學﹞</a:t>
            </a:r>
            <a:r>
              <a:rPr lang="en-US" sz="2799">
                <a:solidFill>
                  <a:srgbClr val="100F0D"/>
                </a:solidFill>
              </a:rPr>
              <a:t>  </a:t>
            </a:r>
            <a:r>
              <a:rPr b="0" i="0" lang="en-US" sz="2799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臺灣博碩士論文知識加值系統。</a:t>
            </a:r>
            <a:endParaRPr b="0" i="0" sz="2799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2799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https://leemeng.tw/attack_on_bert_transfer_learning_in_nlp.html</a:t>
            </a:r>
            <a:endParaRPr b="0" i="0" sz="2799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3.Hoang, M., Bihorac, O. A., &amp; Rouces, J. (2019). Aspect-based sentiment analysis using bert. In Proceedings of the 22nd nordic conference on computational linguistics (pp. 187-196).</a:t>
            </a:r>
            <a:endParaRPr b="0" i="0" sz="2799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4.Song, Y., Wang, J., Liang, Z., Liu, Z., &amp; Jiang, T. (2020). Utilizing BERT intermediate layers for aspect based sentiment analysis and natural language inference. arXiv preprint arXiv:2002.04815.</a:t>
            </a:r>
            <a:endParaRPr b="0" i="0" sz="2799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5.Li, X., Bing, L., Zhang, W., &amp; Lam, W. (2019). Exploiting BERT for end-to-end aspect-based sentiment analysis. arXiv preprint arXiv:1910.00883.</a:t>
            </a:r>
            <a:endParaRPr b="0" i="0" sz="2799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6.Abas, A. R., El-Henawy, I., Mohamed, H., &amp; Abdellatif, A. (2020). Deep learning model for fine-grained aspect-based opinion mining. IEEE Access, 8, 128845-128855.</a:t>
            </a:r>
            <a:endParaRPr b="0" i="0" sz="2799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24ae68b3bef_0_65"/>
          <p:cNvSpPr/>
          <p:nvPr/>
        </p:nvSpPr>
        <p:spPr>
          <a:xfrm>
            <a:off x="17166575" y="9117716"/>
            <a:ext cx="2433393" cy="1113798"/>
          </a:xfrm>
          <a:custGeom>
            <a:rect b="b" l="l" r="r" t="t"/>
            <a:pathLst>
              <a:path extrusionOk="0" h="1130759" w="8248790">
                <a:moveTo>
                  <a:pt x="0" y="0"/>
                </a:moveTo>
                <a:lnTo>
                  <a:pt x="8248790" y="0"/>
                </a:lnTo>
                <a:lnTo>
                  <a:pt x="8248790" y="1130759"/>
                </a:lnTo>
                <a:lnTo>
                  <a:pt x="0" y="113075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581" name="Google Shape;581;g24ae68b3bef_0_65"/>
          <p:cNvSpPr/>
          <p:nvPr/>
        </p:nvSpPr>
        <p:spPr>
          <a:xfrm>
            <a:off x="-10" y="9897230"/>
            <a:ext cx="2433393" cy="333574"/>
          </a:xfrm>
          <a:custGeom>
            <a:rect b="b" l="l" r="r" t="t"/>
            <a:pathLst>
              <a:path extrusionOk="0" h="1130759" w="8248790">
                <a:moveTo>
                  <a:pt x="0" y="0"/>
                </a:moveTo>
                <a:lnTo>
                  <a:pt x="8248790" y="0"/>
                </a:lnTo>
                <a:lnTo>
                  <a:pt x="8248790" y="1130759"/>
                </a:lnTo>
                <a:lnTo>
                  <a:pt x="0" y="1130759"/>
                </a:lnTo>
                <a:close/>
              </a:path>
            </a:pathLst>
          </a:custGeom>
          <a:solidFill>
            <a:srgbClr val="F9DC09"/>
          </a:solidFill>
          <a:ln>
            <a:noFill/>
          </a:ln>
        </p:spPr>
      </p:sp>
      <p:sp>
        <p:nvSpPr>
          <p:cNvPr id="582" name="Google Shape;582;g24ae68b3bef_0_65"/>
          <p:cNvSpPr/>
          <p:nvPr/>
        </p:nvSpPr>
        <p:spPr>
          <a:xfrm>
            <a:off x="16617983" y="-646770"/>
            <a:ext cx="3050203" cy="306387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3" name="Google Shape;583;g24ae68b3bef_0_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59440" y="-1071227"/>
            <a:ext cx="3067974" cy="30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g24ae68b3bef_0_65"/>
          <p:cNvSpPr/>
          <p:nvPr/>
        </p:nvSpPr>
        <p:spPr>
          <a:xfrm>
            <a:off x="0" y="0"/>
            <a:ext cx="1995230" cy="1995230"/>
          </a:xfrm>
          <a:custGeom>
            <a:rect b="b" l="l" r="r" t="t"/>
            <a:pathLst>
              <a:path extrusionOk="0" h="1913890" w="1913890">
                <a:moveTo>
                  <a:pt x="0" y="0"/>
                </a:moveTo>
                <a:lnTo>
                  <a:pt x="1913890" y="0"/>
                </a:lnTo>
                <a:lnTo>
                  <a:pt x="1913890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F9DC09"/>
          </a:solidFill>
          <a:ln>
            <a:noFill/>
          </a:ln>
        </p:spPr>
      </p:sp>
      <p:pic>
        <p:nvPicPr>
          <p:cNvPr id="585" name="Google Shape;585;g24ae68b3bef_0_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831232" y="5974741"/>
            <a:ext cx="4430154" cy="1113075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g24ae68b3bef_0_65"/>
          <p:cNvSpPr txBox="1"/>
          <p:nvPr/>
        </p:nvSpPr>
        <p:spPr>
          <a:xfrm>
            <a:off x="1028700" y="1031700"/>
            <a:ext cx="9582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參考文獻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24ae68b3bef_0_65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38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87e80174ab_1_21"/>
          <p:cNvSpPr txBox="1"/>
          <p:nvPr/>
        </p:nvSpPr>
        <p:spPr>
          <a:xfrm>
            <a:off x="1028700" y="2954825"/>
            <a:ext cx="16477200" cy="28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solidFill>
                  <a:srgbClr val="100F0D"/>
                </a:solidFill>
              </a:rPr>
              <a:t>7.Lung-Hao Lee、Jian-Hong Li 和 Liang-Chih Yu，“中國 EmoBank：為維度情感分析構建效價喚醒資源” ， ACM Trans。亞洲和低資源語言訊息處理，卷。21、沒有。4，第 65 條，2022 年。</a:t>
            </a:r>
            <a:endParaRPr sz="2799">
              <a:solidFill>
                <a:srgbClr val="100F0D"/>
              </a:solidFill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lang="en-US" sz="2799">
                <a:solidFill>
                  <a:srgbClr val="100F0D"/>
                </a:solidFill>
              </a:rPr>
              <a:t>8. 餘亮智、李龍浩、郝帥、王進、何雲超、胡軍、K. Robert Lai 和張學傑。2016.「在效價喚醒維度上建構中國情感資源。NAACL/HLT-16 會議記錄，第 540-545 頁。</a:t>
            </a:r>
            <a:endParaRPr b="0" i="0" sz="2799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100F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287e80174ab_1_21"/>
          <p:cNvSpPr/>
          <p:nvPr/>
        </p:nvSpPr>
        <p:spPr>
          <a:xfrm>
            <a:off x="17166575" y="9117716"/>
            <a:ext cx="2433393" cy="1113798"/>
          </a:xfrm>
          <a:custGeom>
            <a:rect b="b" l="l" r="r" t="t"/>
            <a:pathLst>
              <a:path extrusionOk="0" h="1130759" w="8248790">
                <a:moveTo>
                  <a:pt x="0" y="0"/>
                </a:moveTo>
                <a:lnTo>
                  <a:pt x="8248790" y="0"/>
                </a:lnTo>
                <a:lnTo>
                  <a:pt x="8248790" y="1130759"/>
                </a:lnTo>
                <a:lnTo>
                  <a:pt x="0" y="113075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594" name="Google Shape;594;g287e80174ab_1_21"/>
          <p:cNvSpPr/>
          <p:nvPr/>
        </p:nvSpPr>
        <p:spPr>
          <a:xfrm>
            <a:off x="-10" y="9897230"/>
            <a:ext cx="2433393" cy="333574"/>
          </a:xfrm>
          <a:custGeom>
            <a:rect b="b" l="l" r="r" t="t"/>
            <a:pathLst>
              <a:path extrusionOk="0" h="1130759" w="8248790">
                <a:moveTo>
                  <a:pt x="0" y="0"/>
                </a:moveTo>
                <a:lnTo>
                  <a:pt x="8248790" y="0"/>
                </a:lnTo>
                <a:lnTo>
                  <a:pt x="8248790" y="1130759"/>
                </a:lnTo>
                <a:lnTo>
                  <a:pt x="0" y="1130759"/>
                </a:lnTo>
                <a:close/>
              </a:path>
            </a:pathLst>
          </a:custGeom>
          <a:solidFill>
            <a:srgbClr val="F9DC09"/>
          </a:solidFill>
          <a:ln>
            <a:noFill/>
          </a:ln>
        </p:spPr>
      </p:sp>
      <p:sp>
        <p:nvSpPr>
          <p:cNvPr id="595" name="Google Shape;595;g287e80174ab_1_21"/>
          <p:cNvSpPr/>
          <p:nvPr/>
        </p:nvSpPr>
        <p:spPr>
          <a:xfrm>
            <a:off x="16617983" y="-646770"/>
            <a:ext cx="3050203" cy="3063875"/>
          </a:xfrm>
          <a:custGeom>
            <a:rect b="b" l="l" r="r" t="t"/>
            <a:pathLst>
              <a:path extrusionOk="0" h="6350000" w="6321665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F9DC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6" name="Google Shape;596;g287e80174ab_1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59440" y="-1071227"/>
            <a:ext cx="3067974" cy="3067974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g287e80174ab_1_21"/>
          <p:cNvSpPr/>
          <p:nvPr/>
        </p:nvSpPr>
        <p:spPr>
          <a:xfrm>
            <a:off x="0" y="0"/>
            <a:ext cx="1995230" cy="1995230"/>
          </a:xfrm>
          <a:custGeom>
            <a:rect b="b" l="l" r="r" t="t"/>
            <a:pathLst>
              <a:path extrusionOk="0" h="1913890" w="1913890">
                <a:moveTo>
                  <a:pt x="0" y="0"/>
                </a:moveTo>
                <a:lnTo>
                  <a:pt x="1913890" y="0"/>
                </a:lnTo>
                <a:lnTo>
                  <a:pt x="1913890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F9DC09"/>
          </a:solidFill>
          <a:ln>
            <a:noFill/>
          </a:ln>
        </p:spPr>
      </p:sp>
      <p:pic>
        <p:nvPicPr>
          <p:cNvPr id="598" name="Google Shape;598;g287e80174ab_1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831232" y="5974741"/>
            <a:ext cx="4430154" cy="1113075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g287e80174ab_1_21"/>
          <p:cNvSpPr txBox="1"/>
          <p:nvPr/>
        </p:nvSpPr>
        <p:spPr>
          <a:xfrm>
            <a:off x="1028700" y="1031700"/>
            <a:ext cx="9582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參考文獻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287e80174ab_1_21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</a:rPr>
              <a:t>39</a:t>
            </a:r>
            <a:endParaRPr b="0" i="0" sz="4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g24ae68b3bef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2638" y="1968607"/>
            <a:ext cx="41148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g24ae68b3bef_0_78"/>
          <p:cNvSpPr/>
          <p:nvPr/>
        </p:nvSpPr>
        <p:spPr>
          <a:xfrm>
            <a:off x="4483323" y="4263550"/>
            <a:ext cx="10269668" cy="2711295"/>
          </a:xfrm>
          <a:custGeom>
            <a:rect b="b" l="l" r="r" t="t"/>
            <a:pathLst>
              <a:path extrusionOk="0" h="917528" w="3475353">
                <a:moveTo>
                  <a:pt x="0" y="0"/>
                </a:moveTo>
                <a:lnTo>
                  <a:pt x="0" y="917528"/>
                </a:lnTo>
                <a:lnTo>
                  <a:pt x="3475353" y="917528"/>
                </a:lnTo>
                <a:lnTo>
                  <a:pt x="3475353" y="0"/>
                </a:lnTo>
                <a:lnTo>
                  <a:pt x="0" y="0"/>
                </a:lnTo>
                <a:close/>
                <a:moveTo>
                  <a:pt x="3414393" y="856568"/>
                </a:moveTo>
                <a:lnTo>
                  <a:pt x="59690" y="856568"/>
                </a:lnTo>
                <a:lnTo>
                  <a:pt x="59690" y="59690"/>
                </a:lnTo>
                <a:lnTo>
                  <a:pt x="3414394" y="59690"/>
                </a:lnTo>
                <a:lnTo>
                  <a:pt x="3414394" y="856568"/>
                </a:lnTo>
                <a:close/>
              </a:path>
            </a:pathLst>
          </a:custGeom>
          <a:solidFill>
            <a:srgbClr val="100F0D"/>
          </a:solidFill>
          <a:ln>
            <a:noFill/>
          </a:ln>
        </p:spPr>
      </p:sp>
      <p:sp>
        <p:nvSpPr>
          <p:cNvPr id="607" name="Google Shape;607;g24ae68b3bef_0_78"/>
          <p:cNvSpPr/>
          <p:nvPr/>
        </p:nvSpPr>
        <p:spPr>
          <a:xfrm>
            <a:off x="4007073" y="3787300"/>
            <a:ext cx="10269668" cy="2711295"/>
          </a:xfrm>
          <a:custGeom>
            <a:rect b="b" l="l" r="r" t="t"/>
            <a:pathLst>
              <a:path extrusionOk="0" h="917528" w="3475353">
                <a:moveTo>
                  <a:pt x="0" y="0"/>
                </a:moveTo>
                <a:lnTo>
                  <a:pt x="3475353" y="0"/>
                </a:lnTo>
                <a:lnTo>
                  <a:pt x="3475353" y="917528"/>
                </a:lnTo>
                <a:lnTo>
                  <a:pt x="0" y="917528"/>
                </a:lnTo>
                <a:close/>
              </a:path>
            </a:pathLst>
          </a:custGeom>
          <a:solidFill>
            <a:srgbClr val="F9DC09"/>
          </a:solidFill>
          <a:ln>
            <a:noFill/>
          </a:ln>
        </p:spPr>
      </p:sp>
      <p:sp>
        <p:nvSpPr>
          <p:cNvPr id="608" name="Google Shape;608;g24ae68b3bef_0_78"/>
          <p:cNvSpPr txBox="1"/>
          <p:nvPr/>
        </p:nvSpPr>
        <p:spPr>
          <a:xfrm>
            <a:off x="3530823" y="4311757"/>
            <a:ext cx="11226300" cy="2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4"/>
              <a:buFont typeface="Arial"/>
              <a:buNone/>
            </a:pPr>
            <a:r>
              <a:rPr b="0" i="0" lang="en-US" sz="13474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THANKS.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9" name="Google Shape;609;g24ae68b3bef_0_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3655069">
            <a:off x="1336370" y="2185584"/>
            <a:ext cx="2107687" cy="17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g24ae68b3bef_0_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53367" y="1621113"/>
            <a:ext cx="2249175" cy="565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g24ae68b3bef_0_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994859" y="5929444"/>
            <a:ext cx="2293141" cy="20930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2" name="Google Shape;612;g24ae68b3bef_0_78"/>
          <p:cNvCxnSpPr/>
          <p:nvPr/>
        </p:nvCxnSpPr>
        <p:spPr>
          <a:xfrm>
            <a:off x="1028700" y="1028700"/>
            <a:ext cx="1504800" cy="0"/>
          </a:xfrm>
          <a:prstGeom prst="straightConnector1">
            <a:avLst/>
          </a:prstGeom>
          <a:noFill/>
          <a:ln cap="flat" cmpd="sng" w="95250">
            <a:solidFill>
              <a:srgbClr val="100F0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3" name="Google Shape;613;g24ae68b3bef_0_78"/>
          <p:cNvSpPr txBox="1"/>
          <p:nvPr/>
        </p:nvSpPr>
        <p:spPr>
          <a:xfrm>
            <a:off x="16911875" y="9625175"/>
            <a:ext cx="1095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100F0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4000">
                <a:solidFill>
                  <a:srgbClr val="100F0D"/>
                </a:solidFill>
              </a:rPr>
              <a:t>0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